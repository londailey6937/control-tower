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6" r:id="rId5"/>
    <p:sldId id="259" r:id="rId6"/>
    <p:sldId id="260" r:id="rId7"/>
    <p:sldId id="275" r:id="rId8"/>
    <p:sldId id="261" r:id="rId9"/>
    <p:sldId id="262" r:id="rId10"/>
    <p:sldId id="272" r:id="rId11"/>
    <p:sldId id="273" r:id="rId12"/>
    <p:sldId id="263" r:id="rId13"/>
    <p:sldId id="274" r:id="rId14"/>
    <p:sldId id="264" r:id="rId15"/>
    <p:sldId id="265" r:id="rId16"/>
    <p:sldId id="268" r:id="rId17"/>
    <p:sldId id="266" r:id="rId18"/>
    <p:sldId id="267" r:id="rId19"/>
  </p:sldIdLst>
  <p:sldSz cx="9144000" cy="5143500" type="screen16x9"/>
  <p:notesSz cx="7099300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0126" autoAdjust="0"/>
  </p:normalViewPr>
  <p:slideViewPr>
    <p:cSldViewPr snapToGrid="0" snapToObjects="1">
      <p:cViewPr varScale="1">
        <p:scale>
          <a:sx n="79" d="100"/>
          <a:sy n="79" d="100"/>
        </p:scale>
        <p:origin x="19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427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r>
              <a:rPr lang="en-US" dirty="0"/>
              <a:t>各位投资人，下午好。今天我们探讨一个被忽视已久的巨大市场：ICU 里的呼吸监护。我们带来的不是又一个监测参数，而是下一代 ICU 呼吸监护的标准。这个标准基于“神经-机械耦合”的理念，它将患者的“呼吸意图”与“呼吸效应”实时连接起来。我们的平台是全球首个实现 sEMG 驱动和 EIT 效应闭环集成的系统。我们的商业架构也独具匠心：美国 B 公司持有全部核心 IP，而中国 A </a:t>
            </a:r>
            <a:r>
              <a:rPr lang="en-US" dirty="0" err="1"/>
              <a:t>公司负责</a:t>
            </a:r>
            <a:r>
              <a:rPr lang="zh-CN" altLang="en-US" dirty="0"/>
              <a:t>实验</a:t>
            </a:r>
            <a:r>
              <a:rPr lang="en-US" dirty="0" err="1"/>
              <a:t>与制造。这种全球化架构最大化了资产安全和商业价值。但要理解这个价值，我们必须先看清临床的痛点</a:t>
            </a:r>
            <a:r>
              <a:rPr lang="en-US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r>
              <a:rPr lang="en-US" dirty="0"/>
              <a:t>我们先来看临床的现实。ICU 医生每天都在与三个“盲区”作斗争。我们能看到机器给了多少压力，但完全不知道病人自己想不想要、想用多大力。这就是“人机对抗”频发的根源，我们称之为神经脱节。只看“通气”的气在哪，不看“灌注”的血在哪，就像只知道修路，却不知道路上有没有车。错误的决策每天都在发生，这是气血失配。目前唯一的驱动监测金标准，美敦力的 NAVA，需要从鼻腔插入一根食道导管。这导致了什么？超过百分之九十的患者因为无法耐受或存在禁忌症，根本用不上。所以，我们得出一个结论：我们正在用“孤立的数据”，在 ICU 这种高危场景下进行“盲打”。接下来，我们看看如何解决这些痛点。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r>
              <a:rPr lang="en-US" dirty="0"/>
              <a:t>我们的解决方案，逻辑非常清晰：两个系统，一个闭环。系统 A，sEMG，它像一个“读心术”设备，通过体表贴片，无创地监测大脑发给膈肌的呼吸指令。它解决了“病人想不想吸气”的问题。系统 B，EIT，它像一个“肺部 CT”，实时成像肺部的气体和血液分布。它解决了“气和血到没到位”的问题。而连接这一切的，是我们的核心纽带 MyoBus 协议。它在毫秒级，将大脑的“指令时刻”与肺部的“响应时刻”完美对齐。医生第一次可以清晰地看到：是指令错了，还是执行出了问题。现在，我们来对比一下我们的核心技术与现有市场的竞争者。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pPr defTabSz="1109350"/>
            <a:r>
              <a:rPr lang="en-US" altLang="zh-CN" dirty="0">
                <a:effectLst/>
              </a:rPr>
              <a:t>"</a:t>
            </a:r>
            <a:r>
              <a:rPr lang="zh-CN" altLang="en-US" dirty="0">
                <a:effectLst/>
              </a:rPr>
              <a:t>大家可能会问，这只是一个好技术，还是一个好生意？请看这组数据：全球呼吸机市场正在以近 </a:t>
            </a:r>
            <a:r>
              <a:rPr lang="en-US" altLang="zh-CN" dirty="0">
                <a:effectLst/>
              </a:rPr>
              <a:t>6% </a:t>
            </a:r>
            <a:r>
              <a:rPr lang="zh-CN" altLang="en-US" dirty="0">
                <a:effectLst/>
              </a:rPr>
              <a:t>的复合增长率向百亿美金规模迈进。但更惊人的是浪费</a:t>
            </a:r>
            <a:r>
              <a:rPr lang="en-US" altLang="zh-CN" dirty="0">
                <a:effectLst/>
              </a:rPr>
              <a:t>——</a:t>
            </a:r>
            <a:r>
              <a:rPr lang="zh-CN" altLang="en-US" dirty="0">
                <a:effectLst/>
              </a:rPr>
              <a:t>仅在美国，每年因为人机对抗导致的额外医疗成本就高达 </a:t>
            </a:r>
            <a:r>
              <a:rPr lang="en-US" altLang="zh-CN" dirty="0">
                <a:effectLst/>
              </a:rPr>
              <a:t>60 </a:t>
            </a:r>
            <a:r>
              <a:rPr lang="zh-CN" altLang="en-US" dirty="0">
                <a:effectLst/>
              </a:rPr>
              <a:t>亿美元。每一个撤机失败的病人，都会给医院增加 </a:t>
            </a:r>
            <a:r>
              <a:rPr lang="en-US" altLang="zh-CN" dirty="0">
                <a:effectLst/>
              </a:rPr>
              <a:t>1 </a:t>
            </a:r>
            <a:r>
              <a:rPr lang="zh-CN" altLang="en-US" dirty="0">
                <a:effectLst/>
              </a:rPr>
              <a:t>万美元以上的负担。我们的系统每减少一次人机对抗，就是在为医院直接省钱。所以，我们不仅是在救命，更是在为医疗系统‘止血’。这是一个刚需且巨大的存量替代市场。</a:t>
            </a:r>
            <a:r>
              <a:rPr lang="en-US" altLang="zh-CN" dirty="0">
                <a:effectLst/>
              </a:rPr>
              <a:t>"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09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pPr defTabSz="1109350">
              <a:defRPr/>
            </a:pPr>
            <a:r>
              <a:rPr lang="en-US" dirty="0" err="1"/>
              <a:t>谈到驱动监测，我们绕不开</a:t>
            </a:r>
            <a:r>
              <a:rPr lang="en-US" altLang="zh-CN" dirty="0" err="1">
                <a:effectLst/>
              </a:rPr>
              <a:t>Getinge</a:t>
            </a:r>
            <a:r>
              <a:rPr lang="zh-CN" altLang="en-US" dirty="0">
                <a:effectLst/>
              </a:rPr>
              <a:t>（捷迈）</a:t>
            </a:r>
            <a:r>
              <a:rPr lang="en-US" dirty="0"/>
              <a:t>的 NAVA。但请看这张对比图，这是一场“颠覆者”与“守旧者”的对话。NAVA 是侵入式的，需要插管，有感染风险，而且超过百分之九十的患者无法使用。而我们的 sEMG，是完全无创的体表贴片，像心电图一样简单，百分之百普适，且成本极低。这不仅仅是体验的改善，这是临床可用性的根本性突破。我们用一种更安全、更便宜、更普适的方案，解决了同一个、甚至更广阔的临床问题。正如权威期刊所说，表面肌电技术，是评估呼吸驱动的“最具潜力技术”。我们的 EIT 系统同样具有颠覆性。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r>
              <a:rPr lang="en-US" dirty="0"/>
              <a:t>再看 EIT </a:t>
            </a:r>
            <a:r>
              <a:rPr lang="en-US" dirty="0" err="1"/>
              <a:t>领域，我们的对标是</a:t>
            </a:r>
            <a:r>
              <a:rPr lang="zh-CN" altLang="en-US" dirty="0"/>
              <a:t>美国唯一</a:t>
            </a:r>
            <a:r>
              <a:rPr lang="en-US" altLang="zh-CN" dirty="0" err="1"/>
              <a:t>eit</a:t>
            </a:r>
            <a:r>
              <a:rPr lang="en-US" dirty="0" err="1"/>
              <a:t>先驱</a:t>
            </a:r>
            <a:r>
              <a:rPr lang="en-US" dirty="0"/>
              <a:t> Timpel。我们尊敬他们，因为他们验证了 EIT 通气监测的 FDA 路径，为我们提供了明确的合规价值。但 Timpel 只做了“一半”的工作。他们只能看“通气”，无法看“灌注”。而我们的平台，是三维的：通气监测我们有，灌注监测我们有，而且是我们的核心</a:t>
            </a:r>
            <a:r>
              <a:rPr lang="zh-CN" altLang="en-US" dirty="0"/>
              <a:t>算法</a:t>
            </a:r>
            <a:r>
              <a:rPr lang="en-US" dirty="0" err="1"/>
              <a:t>专利。最重要的是，神经驱动通过</a:t>
            </a:r>
            <a:r>
              <a:rPr lang="en-US" dirty="0"/>
              <a:t> MyoBus 协议无缝集成。这不是简单的功能叠加，这是“升维打击”。</a:t>
            </a:r>
            <a:r>
              <a:rPr lang="en-US" dirty="0" err="1"/>
              <a:t>当竞争对手还在</a:t>
            </a:r>
            <a:r>
              <a:rPr lang="zh-CN" altLang="en-US" dirty="0"/>
              <a:t>一</a:t>
            </a:r>
            <a:r>
              <a:rPr lang="en-US" dirty="0" err="1"/>
              <a:t>维平面思考时，我们已经构建了一个三维的、包含因果逻辑的完整模型。实现“灌注”监测</a:t>
            </a:r>
            <a:r>
              <a:rPr lang="zh-CN" altLang="en-US" dirty="0"/>
              <a:t>和神经驱动监测</a:t>
            </a:r>
            <a:r>
              <a:rPr lang="en-US" dirty="0"/>
              <a:t>，</a:t>
            </a:r>
            <a:r>
              <a:rPr lang="en-US" dirty="0" err="1"/>
              <a:t>是我们的核心技术壁垒</a:t>
            </a:r>
            <a:r>
              <a:rPr lang="en-US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pPr defTabSz="1109350"/>
            <a:r>
              <a:rPr lang="en-US" altLang="zh-CN" dirty="0">
                <a:effectLst/>
              </a:rPr>
              <a:t>"</a:t>
            </a:r>
            <a:r>
              <a:rPr lang="zh-CN" altLang="en-US" dirty="0">
                <a:effectLst/>
              </a:rPr>
              <a:t>这就是我们定义的‘数字孪生’。传统的监护仪只是被动地显示波形，而我们的系统是一个闭环。首先，通过 </a:t>
            </a:r>
            <a:r>
              <a:rPr lang="en-US" altLang="zh-CN" dirty="0" err="1">
                <a:effectLst/>
              </a:rPr>
              <a:t>sEMG</a:t>
            </a:r>
            <a:r>
              <a:rPr lang="en-US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和 </a:t>
            </a:r>
            <a:r>
              <a:rPr lang="en-US" altLang="zh-CN" dirty="0">
                <a:effectLst/>
              </a:rPr>
              <a:t>EIT </a:t>
            </a:r>
            <a:r>
              <a:rPr lang="zh-CN" altLang="en-US" dirty="0">
                <a:effectLst/>
              </a:rPr>
              <a:t>进行多维感知；然后，在云端或本地构建患者肺部的‘数字双胞胎’；最后，通过 </a:t>
            </a:r>
            <a:r>
              <a:rPr lang="en-US" altLang="zh-CN" dirty="0">
                <a:effectLst/>
              </a:rPr>
              <a:t>AI </a:t>
            </a:r>
            <a:r>
              <a:rPr lang="zh-CN" altLang="en-US" dirty="0">
                <a:effectLst/>
              </a:rPr>
              <a:t>预测未来可能发生的人机对抗。医生不再是看着报警去‘救火’，而是根据预测去‘防火’。这就是从监测到预测的跨越。</a:t>
            </a:r>
            <a:r>
              <a:rPr lang="en-US" altLang="zh-CN" dirty="0">
                <a:effectLst/>
              </a:rPr>
              <a:t>"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719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r>
              <a:rPr lang="en-US" dirty="0" err="1"/>
              <a:t>我们实现了肺部血流灌注的实时监测。这解决了竞争对手</a:t>
            </a:r>
            <a:r>
              <a:rPr lang="en-US" dirty="0"/>
              <a:t> Timpel 只能看通气，不能看灌注的痛点。提取灌注信号的难度极高，因为它只有呼吸信号强度的十分之一，完全淹没在噪声中。我们，通过自适应滤波和心电门控，</a:t>
            </a:r>
            <a:r>
              <a:rPr lang="zh-CN" altLang="en-US" dirty="0"/>
              <a:t>以及专利算法“动态边界成像技术”，</a:t>
            </a:r>
            <a:r>
              <a:rPr lang="en-US" dirty="0" err="1"/>
              <a:t>能够精准地将这个微弱的心跳信号分离出来。临床价值是巨大的：我们可以无创诊断肺栓塞，指导</a:t>
            </a:r>
            <a:r>
              <a:rPr lang="en-US" dirty="0"/>
              <a:t> ARDS 抢救，并基于 V/Q 匹配度来优化 PEEP 设定。更重要的是，我们的技术与金标准 CTPA 的相关性高达 r=0.88，这证明了它的准确性和可靠性。我们用这种升维打击，完成了 EIT 技术的下半场。现在，我们来看如何将这些技术整合并商业化。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r>
              <a:rPr lang="en-US" dirty="0"/>
              <a:t>MyoBus 协议是我们平台化扩张的数字化接口，也是我们商业模式的护城河。它不仅仅是连接 EIT 和 sEMG 的数据线，它是我们定义的 ICU 呼吸数据的“入口标准”。第一，我们美国 B 公司拥有 MyoBus 的全部 IP，任何第三方想要接入我们的神经驱动数据，都必须获得授权。第二，它通过蓝牙无线传输，完美解决了电气安全隔离问题，符合最严格的 FDA </a:t>
            </a:r>
            <a:r>
              <a:rPr lang="en-US" dirty="0" err="1"/>
              <a:t>安全标准。第三，它构建了巨大的生态潜力，未来任何呼吸</a:t>
            </a:r>
            <a:r>
              <a:rPr lang="zh-CN" altLang="en-US" dirty="0"/>
              <a:t>机或呼吸监控设备（</a:t>
            </a:r>
            <a:r>
              <a:rPr lang="en-US" altLang="zh-CN" dirty="0"/>
              <a:t>co2</a:t>
            </a:r>
            <a:r>
              <a:rPr lang="zh-CN" altLang="en-US" dirty="0"/>
              <a:t>，血氧等）</a:t>
            </a:r>
            <a:r>
              <a:rPr lang="en-US" dirty="0" err="1"/>
              <a:t>想要</a:t>
            </a:r>
            <a:r>
              <a:rPr lang="zh-CN" altLang="en-US" dirty="0"/>
              <a:t>接入我们的系统</a:t>
            </a:r>
            <a:r>
              <a:rPr lang="en-US" dirty="0" err="1"/>
              <a:t>实现智能化，都需要通过</a:t>
            </a:r>
            <a:r>
              <a:rPr lang="en-US" dirty="0"/>
              <a:t> MyoBus Certified 认证。我们想成为呼吸机领域的“Intel Inside”。为了保护这个核心资产，我们设计了一个全球架构。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r>
              <a:rPr lang="en-US" altLang="zh-CN" dirty="0">
                <a:effectLst/>
              </a:rPr>
              <a:t>"</a:t>
            </a:r>
            <a:r>
              <a:rPr lang="zh-CN" altLang="en-US" dirty="0">
                <a:effectLst/>
              </a:rPr>
              <a:t>接下来我们看看市场上的主要玩家。</a:t>
            </a:r>
            <a:r>
              <a:rPr lang="en-US" altLang="zh-CN" dirty="0">
                <a:effectLst/>
              </a:rPr>
              <a:t>Getinge </a:t>
            </a:r>
            <a:r>
              <a:rPr lang="zh-CN" altLang="en-US" dirty="0">
                <a:effectLst/>
              </a:rPr>
              <a:t>的 </a:t>
            </a:r>
            <a:r>
              <a:rPr lang="en-US" altLang="zh-CN" dirty="0">
                <a:effectLst/>
              </a:rPr>
              <a:t>NAVA </a:t>
            </a:r>
            <a:r>
              <a:rPr lang="zh-CN" altLang="en-US" dirty="0">
                <a:effectLst/>
              </a:rPr>
              <a:t>方案虽然能监测膈肌电信号，但它是有创的，且无法评估肺复张。</a:t>
            </a:r>
            <a:r>
              <a:rPr lang="en-US" altLang="zh-CN" dirty="0" err="1">
                <a:effectLst/>
              </a:rPr>
              <a:t>Timpel</a:t>
            </a:r>
            <a:r>
              <a:rPr lang="en-US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的 </a:t>
            </a:r>
            <a:r>
              <a:rPr lang="en-US" altLang="zh-CN" dirty="0">
                <a:effectLst/>
              </a:rPr>
              <a:t>EIT </a:t>
            </a:r>
            <a:r>
              <a:rPr lang="zh-CN" altLang="en-US" dirty="0">
                <a:effectLst/>
              </a:rPr>
              <a:t>设备是无创的，但它只能看到通气，看不到血流，更无法感知病人的呼吸驱动。正如大家在这张表里看到的，只有我们的方案，在所有关键维度上都达到了‘优秀’。我们是唯一能同时无创监测神经驱动、并实现 </a:t>
            </a:r>
            <a:r>
              <a:rPr lang="en-US" altLang="zh-CN" dirty="0">
                <a:effectLst/>
              </a:rPr>
              <a:t>V/Q </a:t>
            </a:r>
            <a:r>
              <a:rPr lang="zh-CN" altLang="en-US" dirty="0">
                <a:effectLst/>
              </a:rPr>
              <a:t>可视化的系统。这不是简单的功能叠加，而是根本性的维度超越。我们为临床提供了一个前所未有的、完整的决策视图。</a:t>
            </a:r>
            <a:r>
              <a:rPr lang="en-US" altLang="zh-CN" dirty="0">
                <a:effectLst/>
              </a:rPr>
              <a:t>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r>
              <a:rPr lang="en-US" altLang="zh-CN" dirty="0">
                <a:effectLst/>
              </a:rPr>
              <a:t>"</a:t>
            </a:r>
            <a:r>
              <a:rPr lang="zh-CN" altLang="en-US" dirty="0">
                <a:effectLst/>
              </a:rPr>
              <a:t>我们真正的护城河，并非仅仅是 </a:t>
            </a:r>
            <a:r>
              <a:rPr lang="en-US" altLang="zh-CN" dirty="0" err="1">
                <a:effectLst/>
              </a:rPr>
              <a:t>sEMG</a:t>
            </a:r>
            <a:r>
              <a:rPr lang="en-US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或 </a:t>
            </a:r>
            <a:r>
              <a:rPr lang="en-US" altLang="zh-CN" dirty="0">
                <a:effectLst/>
              </a:rPr>
              <a:t>EIT </a:t>
            </a:r>
            <a:r>
              <a:rPr lang="zh-CN" altLang="en-US" dirty="0">
                <a:effectLst/>
              </a:rPr>
              <a:t>技术，而是我们定义的 </a:t>
            </a:r>
            <a:r>
              <a:rPr lang="en-US" altLang="zh-CN" dirty="0" err="1">
                <a:effectLst/>
              </a:rPr>
              <a:t>MyoBus</a:t>
            </a:r>
            <a:r>
              <a:rPr lang="en-US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生态。我们不直接制造呼吸机，但我们赋能所有呼吸机。</a:t>
            </a:r>
            <a:r>
              <a:rPr lang="en-US" altLang="zh-CN" dirty="0" err="1">
                <a:effectLst/>
              </a:rPr>
              <a:t>MyoBus</a:t>
            </a:r>
            <a:r>
              <a:rPr lang="en-US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就是呼吸机领域的 </a:t>
            </a:r>
            <a:r>
              <a:rPr lang="en-US" altLang="zh-CN" dirty="0">
                <a:effectLst/>
              </a:rPr>
              <a:t>'Intel Inside'</a:t>
            </a:r>
            <a:r>
              <a:rPr lang="zh-CN" altLang="en-US" dirty="0">
                <a:effectLst/>
              </a:rPr>
              <a:t>。它是一个即插即用的通用数字接口，向上可以兼容德尔格、哈密顿等任何品牌的呼吸机，向下则能无缝接入医院的 </a:t>
            </a:r>
            <a:r>
              <a:rPr lang="en-US" altLang="zh-CN" dirty="0">
                <a:effectLst/>
              </a:rPr>
              <a:t>HIS </a:t>
            </a:r>
            <a:r>
              <a:rPr lang="zh-CN" altLang="en-US" dirty="0">
                <a:effectLst/>
              </a:rPr>
              <a:t>和 </a:t>
            </a:r>
            <a:r>
              <a:rPr lang="en-US" altLang="zh-CN" dirty="0">
                <a:effectLst/>
              </a:rPr>
              <a:t>EMR </a:t>
            </a:r>
            <a:r>
              <a:rPr lang="zh-CN" altLang="en-US" dirty="0">
                <a:effectLst/>
              </a:rPr>
              <a:t>系统。这种开放的生态战略，让我们能以极低的边际成本，快速渗透广阔的存量市场，成为连接未来智慧 </a:t>
            </a:r>
            <a:r>
              <a:rPr lang="en-US" altLang="zh-CN" dirty="0">
                <a:effectLst/>
              </a:rPr>
              <a:t>ICU </a:t>
            </a:r>
            <a:r>
              <a:rPr lang="zh-CN" altLang="en-US" dirty="0">
                <a:effectLst/>
              </a:rPr>
              <a:t>的数据枢纽。</a:t>
            </a:r>
            <a:r>
              <a:rPr lang="en-US" altLang="zh-CN" dirty="0">
                <a:effectLst/>
              </a:rPr>
              <a:t>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r>
              <a:rPr lang="en-US" dirty="0"/>
              <a:t>为了实现资产安全和利益最大化，我们设计了“研发中国化，资产全球化”的全球架构。在中国，A 公司是我们的制造中心，利用成熟的供应链和工程师红利，负责高效的生产和研发。在美国，B 公司是我们的资产中心，它持有全部的知识产权、FDA 认证和 MyoBus 协议。这样做的好处是多方面的。首先，它实现了风险隔离，将生产经营风险与核心 IP 风险完全分开。其次，它带来了估值溢价，一个由美资持有的、受美国法律保护的 FDA 认证 IP，是未来并购市场的顶级标的。为了让这个资产中心尽快产生价值，我们制定了清晰的 FDA 准入路径。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r>
              <a:rPr lang="zh-CN" altLang="en-US" dirty="0">
                <a:effectLst/>
              </a:rPr>
              <a:t>可能投资人最关注的一点，关于资产安全与合规性。我们设计了极其严密的全球架构，并遵循一个核心原则：我们将中国定义为我们高效的‘实验室’和‘车间’，充分利用其成熟的供应链和工程师红利；同时，我们将美国公司打造成一个坚不可摧的‘保险柜’。投资人的每一分钱，都将用于收购和开发核心知识产权，并将其 </a:t>
            </a:r>
            <a:r>
              <a:rPr lang="en-US" altLang="zh-CN" dirty="0">
                <a:effectLst/>
              </a:rPr>
              <a:t>100%</a:t>
            </a:r>
            <a:r>
              <a:rPr lang="zh-CN" altLang="en-US" dirty="0">
                <a:effectLst/>
              </a:rPr>
              <a:t>注入到这家美国公司。这种‘研发在华、资产在美’的模式，不仅能最大化运营效率，更从根本上确保了投资的安全、合规与未来的高价值退出。</a:t>
            </a:r>
            <a:r>
              <a:rPr lang="en-US" altLang="zh-CN" dirty="0">
                <a:effectLst/>
              </a:rPr>
              <a:t>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r>
              <a:rPr lang="en-US" dirty="0"/>
              <a:t>我们为 FDA 申报设计了一个非常聪明的“分步走”策略，以最大程度降低监管风险。我们放弃了耗时耗钱的 De Novo 路径，选择了成熟的 510(k) 路径。第一步，我们独立申报 sEMG 模块，强调其“生理信号采集”功能，快速拿证。这让我们能抢占“全球首个无创驱动监测”的市场定位。第二步，我们申报完整的 EIT 系统，对标已获批的 Timpel 产品，并将 MyoBus 定义为一个兼容协议。这种模块化的注册，完美规避了复杂的“组合产品”审查，让我们的路径清晰、稳健、可预测。通过这个策略，我们预计在6个月内实现首证落地。现在，我们来看如何为这个路径提供资金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r>
              <a:rPr lang="en-US" dirty="0"/>
              <a:t>我们刚才讨论了稳健的 FDA </a:t>
            </a:r>
            <a:r>
              <a:rPr lang="en-US" dirty="0" err="1"/>
              <a:t>路径。现在，我们来看如何用最有效的方式实现这些目标。我们计划融资</a:t>
            </a:r>
            <a:r>
              <a:rPr lang="en-US" dirty="0"/>
              <a:t> 500 万美元，提供 18 个月的运营跑道。资金用途非常明确：最大的一笔，40%，</a:t>
            </a:r>
            <a:r>
              <a:rPr lang="en-US" dirty="0" err="1"/>
              <a:t>也就是</a:t>
            </a:r>
            <a:r>
              <a:rPr lang="en-US" dirty="0"/>
              <a:t> 200 万美元，将用于完成刚才提到的 IP 买断。这是本轮融资的核心，是确保我们资产安全和未来高估值退出的基石。30% 用于 FDA 申报、第三方测试和网络安全验证。这是我们进入美国市场的通行证。20% 用于建立美国本土的核心团队和专家网络。最后 10% 用于供应链和首批生产。每一分钱，都花在构建我们的技术壁垒和商业护城河上。现在，我们来看看投资人最关心的部分：我们的退出路径。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r>
              <a:rPr lang="en-US" dirty="0"/>
              <a:t>我们刚才讨论了 500 万美元的整体融资计划。但现在，我们为投资人提供了一个更精明、风险更低的切入点。我们建议您先投入 200 万美元，作为首期种子轮融资。这 200 万美元不是全部，而是我们实现估值翻倍的关键第一步。资金用途非常聚焦：买断 sEMG 模块的 IP，并推动其在6个月内获得 FDA 510(k) 认证。这笔投资的逻辑是：用少量资金，将一个“概念”转化为一个“合规的、可销售的资产”。一旦我们拿到 FDA 认证，我们的估值将立即翻倍，甚至更高。这不仅降低了您的初期风险，也为后续 EIT </a:t>
            </a:r>
            <a:r>
              <a:rPr lang="en-US" dirty="0" err="1"/>
              <a:t>系统的融资奠定了坚实的基础。我们用</a:t>
            </a:r>
            <a:r>
              <a:rPr lang="en-US" dirty="0"/>
              <a:t> 6个月的时间，把技术壁垒和监管壁垒都建立起来。现在，我们来看看投资人最关心的部分：我们的退出路径。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6772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r>
              <a:rPr lang="en-US" dirty="0"/>
              <a:t>我们为投资人设计了清晰的退出路径。我们的潜在买家，就是德尔格、美敦力、迈瑞这些呼吸机巨头。他们拥有我们没有的全球渠道，但他们也面临一个共同的困境：缺乏下一代“通气+灌注+神经”三位一体的技术。我们，就是他们急需的、能够即插即用的“技术拼图”。在估值上，只做了“通气”的 </a:t>
            </a:r>
            <a:r>
              <a:rPr lang="en-US" dirty="0" err="1"/>
              <a:t>Timpel，价值</a:t>
            </a:r>
            <a:r>
              <a:rPr lang="en-US" dirty="0"/>
              <a:t> </a:t>
            </a:r>
            <a:r>
              <a:rPr lang="zh-CN" altLang="en-US" dirty="0"/>
              <a:t>约</a:t>
            </a:r>
            <a:r>
              <a:rPr lang="en-US" dirty="0"/>
              <a:t>3000 万美元。而我们是“三合一”的完整闭环平台，我们相信，我们的价值至少是它的三倍以上。随着肺保护性通气成为行业金标准，我们定义的这个“操作系统”，将成为行业整合中无可争议的“定海神针”。最后，我想用一句话总结我们正在做的事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r>
              <a:rPr lang="en-US" dirty="0"/>
              <a:t>最后，我想用一句话总结我们正在做的事情：我们定义的不仅仅是一个硬件，而是 ICU 呼吸监护的“操作系统”。我们的愿景，是让每一位 ICU 患者都能获得精准、无创、全链路的生命守护。我们诚挚地邀请各位，加入这场呼吸监护的革命。谢谢大家。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11" Type="http://schemas.openxmlformats.org/officeDocument/2006/relationships/image" Target="../media/image13.jp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499" y="833887"/>
            <a:ext cx="4420319" cy="28661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800" b="1" kern="0" spc="2" dirty="0">
                <a:solidFill>
                  <a:srgbClr val="38B2AC"/>
                </a:solidFill>
              </a:rPr>
              <a:t>ICU Respiratory Digital Twin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571500" y="1433940"/>
            <a:ext cx="6211637" cy="64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E2E8F0"/>
                </a:solidFill>
              </a:rPr>
              <a:t>ICU </a:t>
            </a:r>
            <a:r>
              <a:rPr lang="zh-CN" altLang="en-US" sz="4145" b="1" dirty="0">
                <a:solidFill>
                  <a:srgbClr val="E2E8F0"/>
                </a:solidFill>
              </a:rPr>
              <a:t>呼吸监护数字孪生系统</a:t>
            </a:r>
            <a:endParaRPr lang="en-US" sz="4145" dirty="0"/>
          </a:p>
        </p:txBody>
      </p:sp>
      <p:sp>
        <p:nvSpPr>
          <p:cNvPr id="6" name="Text 2"/>
          <p:cNvSpPr/>
          <p:nvPr/>
        </p:nvSpPr>
        <p:spPr>
          <a:xfrm>
            <a:off x="571500" y="2276903"/>
            <a:ext cx="6429375" cy="10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924" dirty="0" err="1">
                <a:solidFill>
                  <a:srgbClr val="BCCCDC"/>
                </a:solidFill>
              </a:rPr>
              <a:t>多维融合：神经驱动</a:t>
            </a:r>
            <a:r>
              <a:rPr lang="en-US" sz="1924" dirty="0">
                <a:solidFill>
                  <a:srgbClr val="BCCCDC"/>
                </a:solidFill>
              </a:rPr>
              <a:t> · 肺部通气 · </a:t>
            </a:r>
            <a:r>
              <a:rPr lang="en-US" sz="1924" dirty="0" err="1">
                <a:solidFill>
                  <a:srgbClr val="BCCCDC"/>
                </a:solidFill>
              </a:rPr>
              <a:t>血流灌注</a:t>
            </a:r>
            <a:endParaRPr lang="en-US" sz="1924" dirty="0">
              <a:solidFill>
                <a:srgbClr val="BCCCDC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924" dirty="0">
                <a:solidFill>
                  <a:srgbClr val="BCCCDC"/>
                </a:solidFill>
              </a:rPr>
              <a:t>
</a:t>
            </a:r>
            <a:r>
              <a:rPr lang="zh-CN" altLang="en-US" b="1" dirty="0">
                <a:solidFill>
                  <a:srgbClr val="38B2AC"/>
                </a:solidFill>
              </a:rPr>
              <a:t>全球首创多维度监护平台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71500" y="3647052"/>
            <a:ext cx="1572546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 err="1">
                <a:solidFill>
                  <a:srgbClr val="FFFFFF"/>
                </a:solidFill>
              </a:rPr>
              <a:t>美国</a:t>
            </a:r>
            <a:r>
              <a:rPr lang="en-US" sz="1193" b="1" dirty="0">
                <a:solidFill>
                  <a:srgbClr val="FFFFFF"/>
                </a:solidFill>
              </a:rPr>
              <a:t>- B </a:t>
            </a:r>
            <a:r>
              <a:rPr lang="en-US" sz="1193" b="1" dirty="0" err="1">
                <a:solidFill>
                  <a:srgbClr val="FFFFFF"/>
                </a:solidFill>
              </a:rPr>
              <a:t>公司</a:t>
            </a:r>
            <a:r>
              <a:rPr lang="zh-CN" altLang="en-US" sz="1193" b="1" dirty="0">
                <a:solidFill>
                  <a:srgbClr val="FFFFFF"/>
                </a:solidFill>
              </a:rPr>
              <a:t>（筹备中）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571500" y="3948875"/>
            <a:ext cx="218582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829AB1"/>
                </a:solidFill>
              </a:rPr>
              <a:t>IP 持有方 (Global IP Holder)</a:t>
            </a:r>
            <a:endParaRPr lang="en-US" sz="1269" dirty="0"/>
          </a:p>
        </p:txBody>
      </p:sp>
      <p:sp>
        <p:nvSpPr>
          <p:cNvPr id="9" name="Text 5"/>
          <p:cNvSpPr/>
          <p:nvPr/>
        </p:nvSpPr>
        <p:spPr>
          <a:xfrm>
            <a:off x="3043070" y="3647052"/>
            <a:ext cx="2178481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zh-CN" altLang="en-US" sz="1193" b="1" dirty="0">
                <a:solidFill>
                  <a:srgbClr val="FFFFFF"/>
                </a:solidFill>
              </a:rPr>
              <a:t>中国</a:t>
            </a:r>
            <a:r>
              <a:rPr lang="en-US" altLang="zh-CN" sz="1193" b="1" dirty="0">
                <a:solidFill>
                  <a:srgbClr val="FFFFFF"/>
                </a:solidFill>
              </a:rPr>
              <a:t>-</a:t>
            </a:r>
            <a:r>
              <a:rPr lang="zh-CN" altLang="en-US" sz="1193" b="1" dirty="0">
                <a:solidFill>
                  <a:srgbClr val="FFFFFF"/>
                </a:solidFill>
              </a:rPr>
              <a:t>思澜科技（成都）有限</a:t>
            </a:r>
            <a:r>
              <a:rPr lang="en-US" sz="1193" b="1" dirty="0" err="1">
                <a:solidFill>
                  <a:srgbClr val="FFFFFF"/>
                </a:solidFill>
              </a:rPr>
              <a:t>公司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3043070" y="3948875"/>
            <a:ext cx="26005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829AB1"/>
                </a:solidFill>
              </a:rPr>
              <a:t>研发制造 (R&amp;D &amp; Manufacturing)</a:t>
            </a:r>
            <a:endParaRPr lang="en-US" sz="1269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77B347-E1F7-F00B-DC09-32B6CDCF6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380" y="0"/>
            <a:ext cx="2346508" cy="47536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5" name="Text 1"/>
          <p:cNvSpPr/>
          <p:nvPr/>
        </p:nvSpPr>
        <p:spPr>
          <a:xfrm>
            <a:off x="428625" y="139303"/>
            <a:ext cx="4480164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临床痛点：ICU 呼吸管理的“盲区”</a:t>
            </a:r>
            <a:endParaRPr lang="en-US" sz="2121" dirty="0"/>
          </a:p>
        </p:txBody>
      </p:sp>
      <p:sp>
        <p:nvSpPr>
          <p:cNvPr id="6" name="Shape 2"/>
          <p:cNvSpPr/>
          <p:nvPr/>
        </p:nvSpPr>
        <p:spPr>
          <a:xfrm>
            <a:off x="6990857" y="212527"/>
            <a:ext cx="1724518" cy="28932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3"/>
          <p:cNvSpPr/>
          <p:nvPr/>
        </p:nvSpPr>
        <p:spPr>
          <a:xfrm>
            <a:off x="6990857" y="212527"/>
            <a:ext cx="1724518" cy="289322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CLINICAL PAIN POINTS</a:t>
            </a:r>
            <a:endParaRPr lang="en-US" sz="885" dirty="0"/>
          </a:p>
        </p:txBody>
      </p:sp>
      <p:sp>
        <p:nvSpPr>
          <p:cNvPr id="8" name="Shape 4"/>
          <p:cNvSpPr/>
          <p:nvPr/>
        </p:nvSpPr>
        <p:spPr>
          <a:xfrm>
            <a:off x="428625" y="1000125"/>
            <a:ext cx="2619384" cy="28825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5"/>
          <p:cNvSpPr/>
          <p:nvPr/>
        </p:nvSpPr>
        <p:spPr>
          <a:xfrm>
            <a:off x="428625" y="1000125"/>
            <a:ext cx="2619384" cy="57150"/>
          </a:xfrm>
          <a:prstGeom prst="rect">
            <a:avLst/>
          </a:prstGeom>
          <a:solidFill>
            <a:srgbClr val="F5656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278731"/>
            <a:ext cx="342900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2938" y="1823442"/>
            <a:ext cx="2190759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2A43"/>
                </a:solidFill>
              </a:rPr>
              <a:t>1. 神经脱节</a:t>
            </a:r>
            <a:endParaRPr lang="en-US" sz="1397" dirty="0"/>
          </a:p>
        </p:txBody>
      </p:sp>
      <p:sp>
        <p:nvSpPr>
          <p:cNvPr id="12" name="Text 7"/>
          <p:cNvSpPr/>
          <p:nvPr/>
        </p:nvSpPr>
        <p:spPr>
          <a:xfrm>
            <a:off x="642938" y="2219920"/>
            <a:ext cx="2190759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486581"/>
                </a:solidFill>
              </a:rPr>
              <a:t>医生只能看到气道压力，</a:t>
            </a:r>
            <a:r>
              <a:rPr lang="en-US" sz="1090" b="1" dirty="0">
                <a:solidFill>
                  <a:srgbClr val="486581"/>
                </a:solidFill>
              </a:rPr>
              <a:t>完全不知道</a:t>
            </a:r>
            <a:r>
              <a:rPr lang="en-US" sz="1159" dirty="0">
                <a:solidFill>
                  <a:srgbClr val="486581"/>
                </a:solidFill>
              </a:rPr>
              <a:t>患者大脑的呼吸愿望。 
</a:t>
            </a:r>
            <a:r>
              <a:rPr lang="en-US" sz="1090" b="1" dirty="0">
                <a:solidFill>
                  <a:srgbClr val="D32F2F"/>
                </a:solidFill>
              </a:rPr>
              <a:t>后果：人机对抗频发</a:t>
            </a:r>
            <a:endParaRPr lang="en-US" sz="1159" dirty="0"/>
          </a:p>
        </p:txBody>
      </p:sp>
      <p:sp>
        <p:nvSpPr>
          <p:cNvPr id="13" name="Shape 8"/>
          <p:cNvSpPr/>
          <p:nvPr/>
        </p:nvSpPr>
        <p:spPr>
          <a:xfrm>
            <a:off x="3262322" y="1000125"/>
            <a:ext cx="2619384" cy="28825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9"/>
          <p:cNvSpPr/>
          <p:nvPr/>
        </p:nvSpPr>
        <p:spPr>
          <a:xfrm>
            <a:off x="3262322" y="1000125"/>
            <a:ext cx="2619384" cy="57150"/>
          </a:xfrm>
          <a:prstGeom prst="rect">
            <a:avLst/>
          </a:prstGeom>
          <a:solidFill>
            <a:srgbClr val="ED893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634" y="1278731"/>
            <a:ext cx="428625" cy="3429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476634" y="1823442"/>
            <a:ext cx="2190759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2A43"/>
                </a:solidFill>
              </a:rPr>
              <a:t>2. 气血失配</a:t>
            </a:r>
            <a:endParaRPr lang="en-US" sz="1397" dirty="0"/>
          </a:p>
        </p:txBody>
      </p:sp>
      <p:sp>
        <p:nvSpPr>
          <p:cNvPr id="17" name="Text 11"/>
          <p:cNvSpPr/>
          <p:nvPr/>
        </p:nvSpPr>
        <p:spPr>
          <a:xfrm>
            <a:off x="3476634" y="2219920"/>
            <a:ext cx="2190759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486581"/>
                </a:solidFill>
              </a:rPr>
              <a:t>只知道“通气”（气在哪），不知道“灌注”（血在哪）。 
</a:t>
            </a:r>
            <a:r>
              <a:rPr lang="en-US" sz="1090" b="1" dirty="0">
                <a:solidFill>
                  <a:srgbClr val="C05621"/>
                </a:solidFill>
              </a:rPr>
              <a:t>后果：错误的临床决策</a:t>
            </a:r>
            <a:endParaRPr lang="en-US" sz="1159" dirty="0"/>
          </a:p>
        </p:txBody>
      </p:sp>
      <p:sp>
        <p:nvSpPr>
          <p:cNvPr id="18" name="Shape 12"/>
          <p:cNvSpPr/>
          <p:nvPr/>
        </p:nvSpPr>
        <p:spPr>
          <a:xfrm>
            <a:off x="6096019" y="1000125"/>
            <a:ext cx="2619384" cy="28825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3"/>
          <p:cNvSpPr/>
          <p:nvPr/>
        </p:nvSpPr>
        <p:spPr>
          <a:xfrm>
            <a:off x="6096019" y="1000125"/>
            <a:ext cx="2619384" cy="57150"/>
          </a:xfrm>
          <a:prstGeom prst="rect">
            <a:avLst/>
          </a:prstGeom>
          <a:solidFill>
            <a:srgbClr val="ECC94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0331" y="1278731"/>
            <a:ext cx="428625" cy="3429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10331" y="1823442"/>
            <a:ext cx="2190759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2A43"/>
                </a:solidFill>
              </a:rPr>
              <a:t>3. 有创困局</a:t>
            </a:r>
            <a:endParaRPr lang="en-US" sz="1397" dirty="0"/>
          </a:p>
        </p:txBody>
      </p:sp>
      <p:sp>
        <p:nvSpPr>
          <p:cNvPr id="22" name="Text 15"/>
          <p:cNvSpPr/>
          <p:nvPr/>
        </p:nvSpPr>
        <p:spPr>
          <a:xfrm>
            <a:off x="6310331" y="2219920"/>
            <a:ext cx="2190759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486581"/>
                </a:solidFill>
              </a:rPr>
              <a:t>现行金标准（NAVA）依赖食道插管，</a:t>
            </a:r>
            <a:r>
              <a:rPr lang="en-US" sz="1090" b="1" dirty="0">
                <a:solidFill>
                  <a:srgbClr val="486581"/>
                </a:solidFill>
              </a:rPr>
              <a:t>90% 患者</a:t>
            </a:r>
            <a:r>
              <a:rPr lang="en-US" sz="1159" dirty="0">
                <a:solidFill>
                  <a:srgbClr val="486581"/>
                </a:solidFill>
              </a:rPr>
              <a:t>无法耐受。 
</a:t>
            </a:r>
            <a:r>
              <a:rPr lang="en-US" sz="1090" b="1" dirty="0">
                <a:solidFill>
                  <a:srgbClr val="B7791F"/>
                </a:solidFill>
              </a:rPr>
              <a:t>后果：技术无法普及</a:t>
            </a:r>
            <a:endParaRPr lang="en-US" sz="1159" dirty="0"/>
          </a:p>
        </p:txBody>
      </p:sp>
      <p:sp>
        <p:nvSpPr>
          <p:cNvPr id="23" name="Shape 16"/>
          <p:cNvSpPr/>
          <p:nvPr/>
        </p:nvSpPr>
        <p:spPr>
          <a:xfrm>
            <a:off x="428625" y="4096941"/>
            <a:ext cx="8286750" cy="760809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24" name="Text 17"/>
          <p:cNvSpPr/>
          <p:nvPr/>
        </p:nvSpPr>
        <p:spPr>
          <a:xfrm>
            <a:off x="1737892" y="4311253"/>
            <a:ext cx="5668218" cy="265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i="1" dirty="0">
                <a:solidFill>
                  <a:srgbClr val="FFFFFF"/>
                </a:solidFill>
              </a:rPr>
              <a:t>“我们正在用‘孤立的数据’在 ICU </a:t>
            </a:r>
            <a:r>
              <a:rPr lang="en-US" sz="1602" b="1" i="1" dirty="0" err="1">
                <a:solidFill>
                  <a:srgbClr val="FFFFFF"/>
                </a:solidFill>
              </a:rPr>
              <a:t>这种高危场景下进行</a:t>
            </a:r>
            <a:r>
              <a:rPr lang="en-US" sz="1602" b="1" i="1" dirty="0">
                <a:solidFill>
                  <a:srgbClr val="FFFFFF"/>
                </a:solidFill>
              </a:rPr>
              <a:t> </a:t>
            </a:r>
            <a:r>
              <a:rPr lang="zh-CN" altLang="en-US" sz="1602" b="1" i="1" dirty="0">
                <a:solidFill>
                  <a:srgbClr val="F56565"/>
                </a:solidFill>
              </a:rPr>
              <a:t>“</a:t>
            </a:r>
            <a:r>
              <a:rPr lang="en-US" sz="1602" b="1" i="1" dirty="0" err="1">
                <a:solidFill>
                  <a:srgbClr val="F56565"/>
                </a:solidFill>
              </a:rPr>
              <a:t>盲打</a:t>
            </a:r>
            <a:r>
              <a:rPr lang="zh-CN" altLang="en-US" sz="1602" b="1" i="1" dirty="0">
                <a:solidFill>
                  <a:srgbClr val="F56565"/>
                </a:solidFill>
              </a:rPr>
              <a:t>”</a:t>
            </a:r>
            <a:r>
              <a:rPr lang="en-US" sz="1602" b="1" i="1" dirty="0">
                <a:solidFill>
                  <a:srgbClr val="FFFFFF"/>
                </a:solidFill>
              </a:rPr>
              <a:t>。”</a:t>
            </a:r>
            <a:endParaRPr lang="en-US" sz="160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5" name="Text 1"/>
          <p:cNvSpPr/>
          <p:nvPr/>
        </p:nvSpPr>
        <p:spPr>
          <a:xfrm>
            <a:off x="428625" y="139303"/>
            <a:ext cx="4200525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核心方案：两个系统，一个闭环</a:t>
            </a:r>
            <a:endParaRPr lang="en-US" sz="2121" dirty="0"/>
          </a:p>
        </p:txBody>
      </p:sp>
      <p:sp>
        <p:nvSpPr>
          <p:cNvPr id="6" name="Shape 2"/>
          <p:cNvSpPr/>
          <p:nvPr/>
        </p:nvSpPr>
        <p:spPr>
          <a:xfrm>
            <a:off x="7398469" y="212527"/>
            <a:ext cx="1316906" cy="289322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7" name="Text 3"/>
          <p:cNvSpPr/>
          <p:nvPr/>
        </p:nvSpPr>
        <p:spPr>
          <a:xfrm>
            <a:off x="7398469" y="212527"/>
            <a:ext cx="1316906" cy="289322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CORE SOLUTION</a:t>
            </a:r>
            <a:endParaRPr lang="en-US" sz="885" dirty="0"/>
          </a:p>
        </p:txBody>
      </p:sp>
      <p:sp>
        <p:nvSpPr>
          <p:cNvPr id="8" name="Shape 4"/>
          <p:cNvSpPr/>
          <p:nvPr/>
        </p:nvSpPr>
        <p:spPr>
          <a:xfrm>
            <a:off x="428625" y="1000125"/>
            <a:ext cx="3214688" cy="3857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642938" y="1234083"/>
            <a:ext cx="142169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D32F2F"/>
                </a:solidFill>
              </a:rPr>
              <a:t>系统 A: sEMG</a:t>
            </a:r>
            <a:endParaRPr lang="en-US" sz="1602" dirty="0"/>
          </a:p>
        </p:txBody>
      </p:sp>
      <p:sp>
        <p:nvSpPr>
          <p:cNvPr id="10" name="Text 6"/>
          <p:cNvSpPr/>
          <p:nvPr/>
        </p:nvSpPr>
        <p:spPr>
          <a:xfrm>
            <a:off x="642938" y="1582341"/>
            <a:ext cx="278606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神经驱动系统 (The Command)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882" y="2061140"/>
            <a:ext cx="2786063" cy="1428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2938" y="3632597"/>
            <a:ext cx="2786063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486581"/>
                </a:solidFill>
              </a:rPr>
              <a:t>监测大脑发出的呼吸冲动。 
</a:t>
            </a:r>
            <a:r>
              <a:rPr lang="en-US" sz="1090" b="1" dirty="0">
                <a:solidFill>
                  <a:srgbClr val="102A43"/>
                </a:solidFill>
              </a:rPr>
              <a:t>解决问题：</a:t>
            </a:r>
            <a:r>
              <a:rPr lang="en-US" sz="1159" dirty="0">
                <a:solidFill>
                  <a:srgbClr val="486581"/>
                </a:solidFill>
              </a:rPr>
              <a:t>
 “病人想不想吸气？想用多大力？”</a:t>
            </a:r>
            <a:endParaRPr lang="en-US" sz="1159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3680" y="2821781"/>
            <a:ext cx="133945" cy="214313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929063" y="1000125"/>
            <a:ext cx="1285875" cy="3857625"/>
          </a:xfrm>
          <a:prstGeom prst="rect">
            <a:avLst/>
          </a:prstGeom>
          <a:solidFill>
            <a:srgbClr val="102A43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3406" y="2423350"/>
            <a:ext cx="357188" cy="2857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232783" y="2864476"/>
            <a:ext cx="67843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2AC"/>
                </a:solidFill>
              </a:rPr>
              <a:t>MyoBus</a:t>
            </a:r>
            <a:endParaRPr lang="en-US" sz="1193" dirty="0"/>
          </a:p>
        </p:txBody>
      </p:sp>
      <p:sp>
        <p:nvSpPr>
          <p:cNvPr id="17" name="Text 10"/>
          <p:cNvSpPr/>
          <p:nvPr/>
        </p:nvSpPr>
        <p:spPr>
          <a:xfrm>
            <a:off x="4286250" y="3169872"/>
            <a:ext cx="571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BCCCDC"/>
                </a:solidFill>
              </a:rPr>
              <a:t>毫秒级
时间轴对齐</a:t>
            </a:r>
            <a:endParaRPr lang="en-US" sz="834" dirty="0"/>
          </a:p>
        </p:txBody>
      </p:sp>
      <p:sp>
        <p:nvSpPr>
          <p:cNvPr id="18" name="Shape 11"/>
          <p:cNvSpPr/>
          <p:nvPr/>
        </p:nvSpPr>
        <p:spPr>
          <a:xfrm>
            <a:off x="5500688" y="1000125"/>
            <a:ext cx="3214688" cy="38576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6375" y="2821781"/>
            <a:ext cx="133945" cy="21431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715000" y="1234083"/>
            <a:ext cx="114414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8B2AC"/>
                </a:solidFill>
              </a:rPr>
              <a:t>系统 B: EIT</a:t>
            </a:r>
            <a:endParaRPr lang="en-US" sz="1602" dirty="0"/>
          </a:p>
        </p:txBody>
      </p:sp>
      <p:sp>
        <p:nvSpPr>
          <p:cNvPr id="21" name="Text 13"/>
          <p:cNvSpPr/>
          <p:nvPr/>
        </p:nvSpPr>
        <p:spPr>
          <a:xfrm>
            <a:off x="5715000" y="1582341"/>
            <a:ext cx="880049" cy="349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气/</a:t>
            </a:r>
            <a:r>
              <a:rPr lang="en-US" sz="1050" dirty="0" err="1">
                <a:solidFill>
                  <a:srgbClr val="666666"/>
                </a:solidFill>
              </a:rPr>
              <a:t>血效应系统</a:t>
            </a:r>
            <a:endParaRPr lang="en-US" sz="1050" dirty="0">
              <a:solidFill>
                <a:srgbClr val="666666"/>
              </a:solidFill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 (The Execution)</a:t>
            </a:r>
            <a:endParaRPr lang="en-US" sz="1050" dirty="0"/>
          </a:p>
        </p:txBody>
      </p:sp>
      <p:sp>
        <p:nvSpPr>
          <p:cNvPr id="23" name="Text 14"/>
          <p:cNvSpPr/>
          <p:nvPr/>
        </p:nvSpPr>
        <p:spPr>
          <a:xfrm>
            <a:off x="5715000" y="3632597"/>
            <a:ext cx="2786063" cy="974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 err="1">
                <a:solidFill>
                  <a:srgbClr val="486581"/>
                </a:solidFill>
              </a:rPr>
              <a:t>监测肺部通气与血流灌注</a:t>
            </a:r>
            <a:r>
              <a:rPr lang="en-US" sz="1159" dirty="0">
                <a:solidFill>
                  <a:srgbClr val="486581"/>
                </a:solidFill>
              </a:rPr>
              <a:t>   (</a:t>
            </a:r>
            <a:r>
              <a:rPr lang="zh-CN" altLang="en-US" sz="1159" dirty="0">
                <a:solidFill>
                  <a:srgbClr val="486581"/>
                </a:solidFill>
              </a:rPr>
              <a:t>点击播放）</a:t>
            </a:r>
            <a:r>
              <a:rPr lang="en-US" sz="1159" dirty="0">
                <a:solidFill>
                  <a:srgbClr val="486581"/>
                </a:solidFill>
              </a:rPr>
              <a:t>。 
</a:t>
            </a:r>
            <a:r>
              <a:rPr lang="en-US" sz="1090" b="1" dirty="0">
                <a:solidFill>
                  <a:srgbClr val="102A43"/>
                </a:solidFill>
              </a:rPr>
              <a:t>解决问题：</a:t>
            </a:r>
            <a:r>
              <a:rPr lang="en-US" sz="1159" dirty="0">
                <a:solidFill>
                  <a:srgbClr val="486581"/>
                </a:solidFill>
              </a:rPr>
              <a:t>
 “气进去了吗？血流过来了吗？”</a:t>
            </a:r>
            <a:endParaRPr lang="en-US" sz="1159" dirty="0"/>
          </a:p>
        </p:txBody>
      </p:sp>
      <p:pic>
        <p:nvPicPr>
          <p:cNvPr id="24" name="e8496ac4dcada4b3eabf8081373eb8f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718572" y="2060972"/>
            <a:ext cx="2438400" cy="12192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295" y="2087728"/>
            <a:ext cx="935832" cy="1259119"/>
          </a:xfrm>
          <a:prstGeom prst="rect">
            <a:avLst/>
          </a:prstGeom>
        </p:spPr>
      </p:pic>
      <p:pic>
        <p:nvPicPr>
          <p:cNvPr id="2" name="图片 8">
            <a:extLst>
              <a:ext uri="{FF2B5EF4-FFF2-40B4-BE49-F238E27FC236}">
                <a16:creationId xmlns:a16="http://schemas.microsoft.com/office/drawing/2014/main" id="{D9188DA8-724C-E8E3-CF2A-09CAE975A2F7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920" y="840728"/>
            <a:ext cx="2010206" cy="10940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4293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357188" y="96441"/>
            <a:ext cx="3071813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kern="0" spc="1" dirty="0">
                <a:solidFill>
                  <a:srgbClr val="FFFFFF"/>
                </a:solidFill>
              </a:rPr>
              <a:t>市场机会：巨大且刚需</a:t>
            </a:r>
            <a:endParaRPr lang="en-US" sz="2121" dirty="0"/>
          </a:p>
        </p:txBody>
      </p:sp>
      <p:sp>
        <p:nvSpPr>
          <p:cNvPr id="5" name="Shape 2"/>
          <p:cNvSpPr/>
          <p:nvPr/>
        </p:nvSpPr>
        <p:spPr>
          <a:xfrm>
            <a:off x="6880324" y="167878"/>
            <a:ext cx="1906488" cy="307181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3"/>
          <p:cNvSpPr/>
          <p:nvPr/>
        </p:nvSpPr>
        <p:spPr>
          <a:xfrm>
            <a:off x="6880324" y="167878"/>
            <a:ext cx="1906488" cy="307181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kern="0" spc="1" dirty="0">
                <a:solidFill>
                  <a:srgbClr val="0F172A"/>
                </a:solidFill>
              </a:rPr>
              <a:t>MARKET OPPORTUNITY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357188" y="1000125"/>
            <a:ext cx="4972050" cy="3786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214438"/>
            <a:ext cx="454342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F172A"/>
                </a:solidFill>
              </a:rPr>
              <a:t>全球呼吸机市场规模预测 (2025-2034)</a:t>
            </a:r>
            <a:endParaRPr lang="en-US" sz="1397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57350"/>
            <a:ext cx="4543425" cy="29146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757863" y="1000125"/>
            <a:ext cx="3028950" cy="178593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7"/>
          <p:cNvSpPr/>
          <p:nvPr/>
        </p:nvSpPr>
        <p:spPr>
          <a:xfrm>
            <a:off x="6007894" y="1268016"/>
            <a:ext cx="2528888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2DD4BF"/>
                </a:solidFill>
              </a:rPr>
              <a:t>$6.0 B</a:t>
            </a:r>
            <a:endParaRPr lang="en-US" sz="4145" dirty="0"/>
          </a:p>
        </p:txBody>
      </p:sp>
      <p:sp>
        <p:nvSpPr>
          <p:cNvPr id="12" name="Text 8"/>
          <p:cNvSpPr/>
          <p:nvPr/>
        </p:nvSpPr>
        <p:spPr>
          <a:xfrm>
            <a:off x="6007894" y="1946672"/>
            <a:ext cx="252888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年度医疗浪费 (美国)</a:t>
            </a:r>
            <a:endParaRPr lang="en-US" sz="1397" dirty="0"/>
          </a:p>
        </p:txBody>
      </p:sp>
      <p:sp>
        <p:nvSpPr>
          <p:cNvPr id="13" name="Text 9"/>
          <p:cNvSpPr/>
          <p:nvPr/>
        </p:nvSpPr>
        <p:spPr>
          <a:xfrm>
            <a:off x="6007894" y="2318147"/>
            <a:ext cx="25288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仅因人机对抗导致的额外 ICU 支出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15313" y="2214563"/>
            <a:ext cx="714375" cy="714375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5757863" y="3000375"/>
            <a:ext cx="3028950" cy="178593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2"/>
          <p:cNvSpPr/>
          <p:nvPr/>
        </p:nvSpPr>
        <p:spPr>
          <a:xfrm>
            <a:off x="6007894" y="3268266"/>
            <a:ext cx="2528888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2DD4BF"/>
                </a:solidFill>
              </a:rPr>
              <a:t>$10k+</a:t>
            </a:r>
            <a:endParaRPr lang="en-US" sz="4145" dirty="0"/>
          </a:p>
        </p:txBody>
      </p:sp>
      <p:sp>
        <p:nvSpPr>
          <p:cNvPr id="17" name="Text 13"/>
          <p:cNvSpPr/>
          <p:nvPr/>
        </p:nvSpPr>
        <p:spPr>
          <a:xfrm>
            <a:off x="6007894" y="3946922"/>
            <a:ext cx="252888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单患者额外成本</a:t>
            </a:r>
            <a:endParaRPr lang="en-US" sz="1397" dirty="0"/>
          </a:p>
        </p:txBody>
      </p:sp>
      <p:sp>
        <p:nvSpPr>
          <p:cNvPr id="18" name="Text 14"/>
          <p:cNvSpPr/>
          <p:nvPr/>
        </p:nvSpPr>
        <p:spPr>
          <a:xfrm>
            <a:off x="6007894" y="4318397"/>
            <a:ext cx="25288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每一次撤机失败带来的经济负担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215313" y="4214813"/>
            <a:ext cx="714375" cy="714375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357188" y="4850606"/>
            <a:ext cx="301259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数据来源: Fortune Business Insights (2024); CHEST Journal (2017)</a:t>
            </a:r>
            <a:endParaRPr lang="en-US" sz="727" dirty="0"/>
          </a:p>
        </p:txBody>
      </p:sp>
    </p:spTree>
    <p:extLst>
      <p:ext uri="{BB962C8B-B14F-4D97-AF65-F5344CB8AC3E}">
        <p14:creationId xmlns:p14="http://schemas.microsoft.com/office/powerpoint/2010/main" val="3389930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5" name="Text 1"/>
          <p:cNvSpPr/>
          <p:nvPr/>
        </p:nvSpPr>
        <p:spPr>
          <a:xfrm>
            <a:off x="428625" y="139303"/>
            <a:ext cx="3285836" cy="359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竞争对比 1：sEMG vs. NAVA</a:t>
            </a:r>
            <a:endParaRPr lang="en-US" sz="2121" dirty="0"/>
          </a:p>
        </p:txBody>
      </p:sp>
      <p:sp>
        <p:nvSpPr>
          <p:cNvPr id="6" name="Shape 2"/>
          <p:cNvSpPr/>
          <p:nvPr/>
        </p:nvSpPr>
        <p:spPr>
          <a:xfrm>
            <a:off x="7532833" y="212527"/>
            <a:ext cx="1182542" cy="289322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7" name="Text 3"/>
          <p:cNvSpPr/>
          <p:nvPr/>
        </p:nvSpPr>
        <p:spPr>
          <a:xfrm>
            <a:off x="7532833" y="212527"/>
            <a:ext cx="1182542" cy="289322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COMPETITION</a:t>
            </a:r>
            <a:endParaRPr lang="en-US" sz="885" dirty="0"/>
          </a:p>
        </p:txBody>
      </p:sp>
      <p:sp>
        <p:nvSpPr>
          <p:cNvPr id="8" name="Shape 4"/>
          <p:cNvSpPr/>
          <p:nvPr/>
        </p:nvSpPr>
        <p:spPr>
          <a:xfrm>
            <a:off x="428625" y="1000125"/>
            <a:ext cx="4000500" cy="2923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5"/>
          <p:cNvSpPr/>
          <p:nvPr/>
        </p:nvSpPr>
        <p:spPr>
          <a:xfrm>
            <a:off x="428625" y="1000125"/>
            <a:ext cx="4000500" cy="57150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0" name="Text 6"/>
          <p:cNvSpPr/>
          <p:nvPr/>
        </p:nvSpPr>
        <p:spPr>
          <a:xfrm>
            <a:off x="642938" y="1214438"/>
            <a:ext cx="1868007" cy="564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2" b="1" dirty="0" err="1">
                <a:solidFill>
                  <a:srgbClr val="627D98"/>
                </a:solidFill>
              </a:rPr>
              <a:t>Getinge</a:t>
            </a:r>
            <a:r>
              <a:rPr lang="zh-CN" altLang="en-US" sz="1602" b="1" dirty="0">
                <a:solidFill>
                  <a:srgbClr val="627D98"/>
                </a:solidFill>
              </a:rPr>
              <a:t>（捷迈）</a:t>
            </a:r>
          </a:p>
          <a:p>
            <a:pPr>
              <a:lnSpc>
                <a:spcPts val="2200"/>
              </a:lnSpc>
            </a:pPr>
            <a:r>
              <a:rPr lang="en-US" sz="1602" b="1" dirty="0">
                <a:solidFill>
                  <a:srgbClr val="627D98"/>
                </a:solidFill>
              </a:rPr>
              <a:t> NAVA</a:t>
            </a:r>
          </a:p>
        </p:txBody>
      </p:sp>
      <p:sp>
        <p:nvSpPr>
          <p:cNvPr id="11" name="Shape 7"/>
          <p:cNvSpPr/>
          <p:nvPr/>
        </p:nvSpPr>
        <p:spPr>
          <a:xfrm>
            <a:off x="2927989" y="1264444"/>
            <a:ext cx="1286824" cy="23217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2" name="Text 8"/>
          <p:cNvSpPr/>
          <p:nvPr/>
        </p:nvSpPr>
        <p:spPr>
          <a:xfrm>
            <a:off x="2927989" y="1264444"/>
            <a:ext cx="1286824" cy="23217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2A43"/>
                </a:solidFill>
              </a:rPr>
              <a:t>Current Standard</a:t>
            </a:r>
            <a:endParaRPr lang="en-US" sz="885" dirty="0"/>
          </a:p>
        </p:txBody>
      </p:sp>
      <p:sp>
        <p:nvSpPr>
          <p:cNvPr id="13" name="Shape 9"/>
          <p:cNvSpPr/>
          <p:nvPr/>
        </p:nvSpPr>
        <p:spPr>
          <a:xfrm>
            <a:off x="642938" y="1868091"/>
            <a:ext cx="228600" cy="228600"/>
          </a:xfrm>
          <a:prstGeom prst="ellipse">
            <a:avLst/>
          </a:prstGeom>
          <a:solidFill>
            <a:srgbClr val="FED7D7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59" y="1896666"/>
            <a:ext cx="107156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78694" y="1853803"/>
            <a:ext cx="22288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486581"/>
                </a:solidFill>
              </a:rPr>
              <a:t>侵入式 (Invasive)</a:t>
            </a:r>
            <a:r>
              <a:rPr lang="en-US" sz="1269" dirty="0">
                <a:solidFill>
                  <a:srgbClr val="486581"/>
                </a:solidFill>
              </a:rPr>
              <a:t>
 需插入食道导管，有感染风险</a:t>
            </a:r>
            <a:endParaRPr lang="en-US" sz="1193" dirty="0"/>
          </a:p>
        </p:txBody>
      </p:sp>
      <p:sp>
        <p:nvSpPr>
          <p:cNvPr id="16" name="Shape 11"/>
          <p:cNvSpPr/>
          <p:nvPr/>
        </p:nvSpPr>
        <p:spPr>
          <a:xfrm>
            <a:off x="642938" y="2490992"/>
            <a:ext cx="228600" cy="228600"/>
          </a:xfrm>
          <a:prstGeom prst="ellipse">
            <a:avLst/>
          </a:prstGeom>
          <a:solidFill>
            <a:srgbClr val="FED7D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659" y="2519567"/>
            <a:ext cx="107156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78694" y="2476705"/>
            <a:ext cx="2367232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486581"/>
                </a:solidFill>
              </a:rPr>
              <a:t>受众受限</a:t>
            </a:r>
            <a:r>
              <a:rPr lang="en-US" sz="1269" dirty="0">
                <a:solidFill>
                  <a:srgbClr val="486581"/>
                </a:solidFill>
              </a:rPr>
              <a:t>
 &gt;90% 患者无法耐受或有禁忌症</a:t>
            </a:r>
            <a:endParaRPr lang="en-US" sz="1193" dirty="0"/>
          </a:p>
        </p:txBody>
      </p:sp>
      <p:sp>
        <p:nvSpPr>
          <p:cNvPr id="19" name="Shape 13"/>
          <p:cNvSpPr/>
          <p:nvPr/>
        </p:nvSpPr>
        <p:spPr>
          <a:xfrm>
            <a:off x="642938" y="3113894"/>
            <a:ext cx="228600" cy="228600"/>
          </a:xfrm>
          <a:prstGeom prst="ellipse">
            <a:avLst/>
          </a:prstGeom>
          <a:solidFill>
            <a:srgbClr val="FED7D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659" y="3142469"/>
            <a:ext cx="107156" cy="1714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78694" y="3099606"/>
            <a:ext cx="13716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486581"/>
                </a:solidFill>
              </a:rPr>
              <a:t>成本高昂</a:t>
            </a:r>
            <a:r>
              <a:rPr lang="en-US" sz="1269" dirty="0">
                <a:solidFill>
                  <a:srgbClr val="486581"/>
                </a:solidFill>
              </a:rPr>
              <a:t>
 专用导管耗材昂贵</a:t>
            </a:r>
            <a:endParaRPr lang="en-US" sz="1193" dirty="0"/>
          </a:p>
        </p:txBody>
      </p:sp>
      <p:sp>
        <p:nvSpPr>
          <p:cNvPr id="22" name="Shape 15"/>
          <p:cNvSpPr/>
          <p:nvPr/>
        </p:nvSpPr>
        <p:spPr>
          <a:xfrm>
            <a:off x="4714875" y="1000125"/>
            <a:ext cx="4000500" cy="2923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6"/>
          <p:cNvSpPr/>
          <p:nvPr/>
        </p:nvSpPr>
        <p:spPr>
          <a:xfrm>
            <a:off x="4714875" y="1000125"/>
            <a:ext cx="4000500" cy="5715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4" name="Text 17"/>
          <p:cNvSpPr/>
          <p:nvPr/>
        </p:nvSpPr>
        <p:spPr>
          <a:xfrm>
            <a:off x="4929188" y="1214438"/>
            <a:ext cx="1367944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8B2AC"/>
                </a:solidFill>
              </a:rPr>
              <a:t>我们的 sEMG</a:t>
            </a:r>
            <a:endParaRPr lang="en-US" sz="1602" dirty="0"/>
          </a:p>
        </p:txBody>
      </p:sp>
      <p:sp>
        <p:nvSpPr>
          <p:cNvPr id="25" name="Shape 18"/>
          <p:cNvSpPr/>
          <p:nvPr/>
        </p:nvSpPr>
        <p:spPr>
          <a:xfrm>
            <a:off x="7734505" y="1264444"/>
            <a:ext cx="766558" cy="232172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6" name="Text 19"/>
          <p:cNvSpPr/>
          <p:nvPr/>
        </p:nvSpPr>
        <p:spPr>
          <a:xfrm>
            <a:off x="7734505" y="1264444"/>
            <a:ext cx="766558" cy="23217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Next Gen</a:t>
            </a:r>
            <a:endParaRPr lang="en-US" sz="885" dirty="0"/>
          </a:p>
        </p:txBody>
      </p:sp>
      <p:sp>
        <p:nvSpPr>
          <p:cNvPr id="27" name="Shape 20"/>
          <p:cNvSpPr/>
          <p:nvPr/>
        </p:nvSpPr>
        <p:spPr>
          <a:xfrm>
            <a:off x="4929188" y="1868091"/>
            <a:ext cx="228600" cy="228600"/>
          </a:xfrm>
          <a:prstGeom prst="ellipse">
            <a:avLst/>
          </a:prstGeom>
          <a:solidFill>
            <a:srgbClr val="C6F6D5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7763" y="1896666"/>
            <a:ext cx="171450" cy="17145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64944" y="1853803"/>
            <a:ext cx="20574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486581"/>
                </a:solidFill>
              </a:rPr>
              <a:t>非侵入式 (Non-Invasive)</a:t>
            </a:r>
            <a:r>
              <a:rPr lang="en-US" sz="1269" dirty="0">
                <a:solidFill>
                  <a:srgbClr val="486581"/>
                </a:solidFill>
              </a:rPr>
              <a:t>
 体表贴片，如心电图般简单</a:t>
            </a:r>
            <a:endParaRPr lang="en-US" sz="1193" dirty="0"/>
          </a:p>
        </p:txBody>
      </p:sp>
      <p:sp>
        <p:nvSpPr>
          <p:cNvPr id="30" name="Shape 22"/>
          <p:cNvSpPr/>
          <p:nvPr/>
        </p:nvSpPr>
        <p:spPr>
          <a:xfrm>
            <a:off x="4929188" y="2490992"/>
            <a:ext cx="228600" cy="228600"/>
          </a:xfrm>
          <a:prstGeom prst="ellipse">
            <a:avLst/>
          </a:prstGeom>
          <a:solidFill>
            <a:srgbClr val="C6F6D5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7763" y="2519567"/>
            <a:ext cx="171450" cy="17145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264944" y="2476705"/>
            <a:ext cx="20574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486581"/>
                </a:solidFill>
              </a:rPr>
              <a:t>100% 普适</a:t>
            </a:r>
            <a:r>
              <a:rPr lang="en-US" sz="1269" dirty="0">
                <a:solidFill>
                  <a:srgbClr val="486581"/>
                </a:solidFill>
              </a:rPr>
              <a:t>
 适用于所有清醒或镇静患者</a:t>
            </a:r>
            <a:endParaRPr lang="en-US" sz="1193" dirty="0"/>
          </a:p>
        </p:txBody>
      </p:sp>
      <p:sp>
        <p:nvSpPr>
          <p:cNvPr id="33" name="Shape 24"/>
          <p:cNvSpPr/>
          <p:nvPr/>
        </p:nvSpPr>
        <p:spPr>
          <a:xfrm>
            <a:off x="4929188" y="3113894"/>
            <a:ext cx="228600" cy="228600"/>
          </a:xfrm>
          <a:prstGeom prst="ellipse">
            <a:avLst/>
          </a:prstGeom>
          <a:solidFill>
            <a:srgbClr val="C6F6D5"/>
          </a:solidFill>
          <a:ln/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7763" y="3142469"/>
            <a:ext cx="171450" cy="17145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64944" y="3099606"/>
            <a:ext cx="24003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486581"/>
                </a:solidFill>
              </a:rPr>
              <a:t>极低成本</a:t>
            </a:r>
            <a:r>
              <a:rPr lang="en-US" sz="1269" dirty="0">
                <a:solidFill>
                  <a:srgbClr val="486581"/>
                </a:solidFill>
              </a:rPr>
              <a:t>
 标准电极片，耗材成本忽略不计</a:t>
            </a:r>
            <a:endParaRPr lang="en-US" sz="1193" dirty="0"/>
          </a:p>
        </p:txBody>
      </p:sp>
      <p:sp>
        <p:nvSpPr>
          <p:cNvPr id="36" name="Shape 26"/>
          <p:cNvSpPr/>
          <p:nvPr/>
        </p:nvSpPr>
        <p:spPr>
          <a:xfrm>
            <a:off x="428625" y="4138017"/>
            <a:ext cx="8286750" cy="719733"/>
          </a:xfrm>
          <a:prstGeom prst="rect">
            <a:avLst/>
          </a:prstGeom>
          <a:solidFill>
            <a:srgbClr val="E6FFFA"/>
          </a:solidFill>
          <a:ln w="18288">
            <a:solidFill>
              <a:srgbClr val="38B2AC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642938" y="4309467"/>
            <a:ext cx="660102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2A43"/>
                </a:solidFill>
              </a:rPr>
              <a:t>Key Scientific Validation</a:t>
            </a:r>
            <a:endParaRPr lang="en-US" sz="987" dirty="0"/>
          </a:p>
        </p:txBody>
      </p:sp>
      <p:sp>
        <p:nvSpPr>
          <p:cNvPr id="38" name="Text 28"/>
          <p:cNvSpPr/>
          <p:nvPr/>
        </p:nvSpPr>
        <p:spPr>
          <a:xfrm>
            <a:off x="642938" y="4539853"/>
            <a:ext cx="660102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486581"/>
                </a:solidFill>
              </a:rPr>
              <a:t>"Analysis and applications of respiratory surface EMG: report of a round table meeting" - Critical Care, 2024</a:t>
            </a:r>
            <a:endParaRPr lang="en-US" sz="942" dirty="0"/>
          </a:p>
        </p:txBody>
      </p:sp>
      <p:sp>
        <p:nvSpPr>
          <p:cNvPr id="39" name="Shape 29"/>
          <p:cNvSpPr/>
          <p:nvPr/>
        </p:nvSpPr>
        <p:spPr>
          <a:xfrm>
            <a:off x="7243958" y="4338935"/>
            <a:ext cx="1257105" cy="346472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40" name="Text 30"/>
          <p:cNvSpPr/>
          <p:nvPr/>
        </p:nvSpPr>
        <p:spPr>
          <a:xfrm>
            <a:off x="7415408" y="4424660"/>
            <a:ext cx="71418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Read Paper</a:t>
            </a:r>
            <a:endParaRPr lang="en-US" sz="885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01025" y="4447877"/>
            <a:ext cx="128588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600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5" name="Text 1"/>
          <p:cNvSpPr/>
          <p:nvPr/>
        </p:nvSpPr>
        <p:spPr>
          <a:xfrm>
            <a:off x="428625" y="139303"/>
            <a:ext cx="4766416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竞争对比 2：我们的 EIT vs. Timpel</a:t>
            </a:r>
            <a:endParaRPr lang="en-US" sz="2121" dirty="0"/>
          </a:p>
        </p:txBody>
      </p:sp>
      <p:sp>
        <p:nvSpPr>
          <p:cNvPr id="6" name="Shape 2"/>
          <p:cNvSpPr/>
          <p:nvPr/>
        </p:nvSpPr>
        <p:spPr>
          <a:xfrm>
            <a:off x="7532833" y="212527"/>
            <a:ext cx="1182542" cy="289322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7" name="Text 3"/>
          <p:cNvSpPr/>
          <p:nvPr/>
        </p:nvSpPr>
        <p:spPr>
          <a:xfrm>
            <a:off x="7532833" y="212527"/>
            <a:ext cx="1182542" cy="289322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COMPETITION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428625" y="1000125"/>
            <a:ext cx="2486025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86581"/>
                </a:solidFill>
              </a:rPr>
              <a:t>功能维度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2914650" y="1000125"/>
            <a:ext cx="29003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27D98"/>
                </a:solidFill>
              </a:rPr>
              <a:t>Timpel (Competitor)</a:t>
            </a:r>
            <a:endParaRPr lang="en-US" sz="1602" dirty="0"/>
          </a:p>
        </p:txBody>
      </p:sp>
      <p:sp>
        <p:nvSpPr>
          <p:cNvPr id="10" name="Text 6"/>
          <p:cNvSpPr/>
          <p:nvPr/>
        </p:nvSpPr>
        <p:spPr>
          <a:xfrm>
            <a:off x="5815013" y="1000125"/>
            <a:ext cx="29003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8B2AC"/>
                </a:solidFill>
              </a:rPr>
              <a:t>Our Platform</a:t>
            </a:r>
            <a:endParaRPr lang="en-US" sz="1602" dirty="0"/>
          </a:p>
        </p:txBody>
      </p:sp>
      <p:sp>
        <p:nvSpPr>
          <p:cNvPr id="11" name="Shape 7"/>
          <p:cNvSpPr/>
          <p:nvPr/>
        </p:nvSpPr>
        <p:spPr>
          <a:xfrm>
            <a:off x="428625" y="1526977"/>
            <a:ext cx="8286750" cy="8393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607219" y="1725216"/>
            <a:ext cx="103790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02A43"/>
                </a:solidFill>
              </a:rPr>
              <a:t>通气监测 (V)</a:t>
            </a:r>
            <a:endParaRPr lang="en-US" sz="1295" dirty="0"/>
          </a:p>
        </p:txBody>
      </p:sp>
      <p:sp>
        <p:nvSpPr>
          <p:cNvPr id="13" name="Text 9"/>
          <p:cNvSpPr/>
          <p:nvPr/>
        </p:nvSpPr>
        <p:spPr>
          <a:xfrm>
            <a:off x="607219" y="2012752"/>
            <a:ext cx="23788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29AB1"/>
                </a:solidFill>
              </a:rPr>
              <a:t>Ventilation Imaging</a:t>
            </a:r>
            <a:endParaRPr lang="en-US" sz="942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173" y="1819870"/>
            <a:ext cx="257175" cy="257175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0520" y="1819870"/>
            <a:ext cx="257175" cy="257175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28625" y="2452092"/>
            <a:ext cx="8286750" cy="946547"/>
          </a:xfrm>
          <a:prstGeom prst="rect">
            <a:avLst/>
          </a:prstGeom>
          <a:solidFill>
            <a:srgbClr val="F0FFFD"/>
          </a:solidFill>
          <a:ln w="18288">
            <a:solidFill>
              <a:srgbClr val="38B2AC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07219" y="2689622"/>
            <a:ext cx="106503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02A43"/>
                </a:solidFill>
              </a:rPr>
              <a:t>灌注监测 (Q)</a:t>
            </a:r>
            <a:endParaRPr lang="en-US" sz="1295" dirty="0"/>
          </a:p>
        </p:txBody>
      </p:sp>
      <p:sp>
        <p:nvSpPr>
          <p:cNvPr id="18" name="Text 12"/>
          <p:cNvSpPr/>
          <p:nvPr/>
        </p:nvSpPr>
        <p:spPr>
          <a:xfrm>
            <a:off x="607219" y="2977158"/>
            <a:ext cx="23788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29AB1"/>
                </a:solidFill>
              </a:rPr>
              <a:t>Perfusion Imaging</a:t>
            </a:r>
            <a:endParaRPr lang="en-US" sz="942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6788" y="2821781"/>
            <a:ext cx="133945" cy="214313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0520" y="2678906"/>
            <a:ext cx="257175" cy="25717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149075" y="3016448"/>
            <a:ext cx="65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endParaRPr lang="en-US" sz="885" dirty="0"/>
          </a:p>
        </p:txBody>
      </p:sp>
      <p:sp>
        <p:nvSpPr>
          <p:cNvPr id="22" name="Shape 14"/>
          <p:cNvSpPr/>
          <p:nvPr/>
        </p:nvSpPr>
        <p:spPr>
          <a:xfrm>
            <a:off x="428625" y="3455789"/>
            <a:ext cx="8286750" cy="946547"/>
          </a:xfrm>
          <a:prstGeom prst="rect">
            <a:avLst/>
          </a:prstGeom>
          <a:solidFill>
            <a:srgbClr val="F0FFFD"/>
          </a:solidFill>
          <a:ln w="18288">
            <a:solidFill>
              <a:srgbClr val="38B2AC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607219" y="3693319"/>
            <a:ext cx="1068186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02A43"/>
                </a:solidFill>
              </a:rPr>
              <a:t>神经驱动 (N)</a:t>
            </a:r>
            <a:endParaRPr lang="en-US" sz="1295" dirty="0"/>
          </a:p>
        </p:txBody>
      </p:sp>
      <p:sp>
        <p:nvSpPr>
          <p:cNvPr id="24" name="Text 16"/>
          <p:cNvSpPr/>
          <p:nvPr/>
        </p:nvSpPr>
        <p:spPr>
          <a:xfrm>
            <a:off x="607219" y="3980855"/>
            <a:ext cx="23788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29AB1"/>
                </a:solidFill>
              </a:rPr>
              <a:t>Neural Drive (sEMG)</a:t>
            </a:r>
            <a:endParaRPr lang="en-US" sz="942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6788" y="3825478"/>
            <a:ext cx="133945" cy="214313"/>
          </a:xfrm>
          <a:prstGeom prst="rect">
            <a:avLst/>
          </a:prstGeom>
        </p:spPr>
      </p:pic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0520" y="3682603"/>
            <a:ext cx="257175" cy="25717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761434" y="4020145"/>
            <a:ext cx="27753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2AC"/>
                </a:solidFill>
              </a:rPr>
              <a:t>Integrated</a:t>
            </a:r>
            <a:endParaRPr lang="en-US" sz="885" dirty="0"/>
          </a:p>
        </p:txBody>
      </p:sp>
      <p:sp>
        <p:nvSpPr>
          <p:cNvPr id="28" name="Shape 18"/>
          <p:cNvSpPr/>
          <p:nvPr/>
        </p:nvSpPr>
        <p:spPr>
          <a:xfrm>
            <a:off x="428625" y="4516636"/>
            <a:ext cx="8286750" cy="575072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29" name="Text 19"/>
          <p:cNvSpPr/>
          <p:nvPr/>
        </p:nvSpPr>
        <p:spPr>
          <a:xfrm>
            <a:off x="428625" y="4516636"/>
            <a:ext cx="8286750" cy="57507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这不是简单的功能叠加，这是</a:t>
            </a:r>
            <a:r>
              <a:rPr lang="en-US" sz="1397" b="1" dirty="0">
                <a:solidFill>
                  <a:srgbClr val="38B2AC"/>
                </a:solidFill>
              </a:rPr>
              <a:t>“升维打击”</a:t>
            </a:r>
            <a:r>
              <a:rPr lang="en-US" sz="1397" b="1" dirty="0">
                <a:solidFill>
                  <a:srgbClr val="FFFFFF"/>
                </a:solidFill>
              </a:rPr>
              <a:t> (Dimensional Strike)。</a:t>
            </a:r>
            <a:endParaRPr lang="en-US" sz="139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429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35794"/>
            <a:ext cx="9144000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96441"/>
            <a:ext cx="4300538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kern="0" spc="1" dirty="0">
                <a:solidFill>
                  <a:srgbClr val="FFFFFF"/>
                </a:solidFill>
              </a:rPr>
              <a:t>数字孪生：从监测到预测的闭环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7513411" y="167878"/>
            <a:ext cx="1273401" cy="307181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4"/>
          <p:cNvSpPr/>
          <p:nvPr/>
        </p:nvSpPr>
        <p:spPr>
          <a:xfrm>
            <a:off x="7513411" y="167878"/>
            <a:ext cx="1273401" cy="307181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kern="0" spc="1" dirty="0">
                <a:solidFill>
                  <a:srgbClr val="0F172A"/>
                </a:solidFill>
              </a:rPr>
              <a:t>DIGITAL TWIN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428625" y="1535906"/>
            <a:ext cx="2172537" cy="2714625"/>
          </a:xfrm>
          <a:prstGeom prst="rect">
            <a:avLst/>
          </a:prstGeom>
          <a:solidFill>
            <a:srgbClr val="1E293B"/>
          </a:solidFill>
          <a:ln w="18288">
            <a:solidFill>
              <a:srgbClr val="33415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92811" y="1750219"/>
            <a:ext cx="642938" cy="642938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405" y="1928813"/>
            <a:ext cx="285750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7080" y="2571750"/>
            <a:ext cx="91442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多维感知</a:t>
            </a:r>
            <a:endParaRPr lang="en-US" sz="1602" dirty="0"/>
          </a:p>
        </p:txBody>
      </p:sp>
      <p:sp>
        <p:nvSpPr>
          <p:cNvPr id="12" name="Text 8"/>
          <p:cNvSpPr/>
          <p:nvPr/>
        </p:nvSpPr>
        <p:spPr>
          <a:xfrm>
            <a:off x="969708" y="3057525"/>
            <a:ext cx="1089143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159" dirty="0">
                <a:solidFill>
                  <a:srgbClr val="CBD5E1"/>
                </a:solidFill>
              </a:rPr>
              <a:t>sEMG 神经信号
 EIT 阻抗成像
 呼吸机参数</a:t>
            </a:r>
            <a:endParaRPr lang="en-US" sz="1159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5712" y="2753916"/>
            <a:ext cx="178594" cy="28575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350056" y="1393031"/>
            <a:ext cx="2442102" cy="3000375"/>
          </a:xfrm>
          <a:prstGeom prst="rect">
            <a:avLst/>
          </a:prstGeom>
          <a:solidFill>
            <a:srgbClr val="0F172A"/>
          </a:solidFill>
          <a:ln w="18288">
            <a:solidFill>
              <a:srgbClr val="2DD4B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178229" y="1607344"/>
            <a:ext cx="785813" cy="785813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2541" y="1821656"/>
            <a:ext cx="357188" cy="3571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56757" y="2571750"/>
            <a:ext cx="102872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2DD4BF"/>
                </a:solidFill>
              </a:rPr>
              <a:t>孪生引擎</a:t>
            </a:r>
            <a:endParaRPr lang="en-US" sz="1808" dirty="0"/>
          </a:p>
        </p:txBody>
      </p:sp>
      <p:sp>
        <p:nvSpPr>
          <p:cNvPr id="18" name="Text 12"/>
          <p:cNvSpPr/>
          <p:nvPr/>
        </p:nvSpPr>
        <p:spPr>
          <a:xfrm>
            <a:off x="4099620" y="3100388"/>
            <a:ext cx="943003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2DD4BF"/>
                </a:solidFill>
              </a:rPr>
              <a:t>物理模型计算</a:t>
            </a:r>
            <a:r>
              <a:rPr lang="en-US" sz="1159" dirty="0">
                <a:solidFill>
                  <a:srgbClr val="CBD5E1"/>
                </a:solidFill>
              </a:rPr>
              <a:t>
 +
</a:t>
            </a:r>
            <a:r>
              <a:rPr lang="en-US" sz="1090" b="1" dirty="0">
                <a:solidFill>
                  <a:srgbClr val="2DD4BF"/>
                </a:solidFill>
              </a:rPr>
              <a:t>AI 实时推演</a:t>
            </a:r>
            <a:endParaRPr lang="en-US" sz="109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7099" y="2753916"/>
            <a:ext cx="178594" cy="28575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541443" y="1535906"/>
            <a:ext cx="2173932" cy="2714625"/>
          </a:xfrm>
          <a:prstGeom prst="rect">
            <a:avLst/>
          </a:prstGeom>
          <a:solidFill>
            <a:srgbClr val="1E293B"/>
          </a:solidFill>
          <a:ln w="18288">
            <a:solidFill>
              <a:srgbClr val="334155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7307498" y="1750219"/>
            <a:ext cx="642938" cy="642938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3951" y="1928813"/>
            <a:ext cx="250031" cy="28575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171767" y="2571750"/>
            <a:ext cx="91442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临床决策</a:t>
            </a:r>
            <a:endParaRPr lang="en-US" sz="1602" dirty="0"/>
          </a:p>
        </p:txBody>
      </p:sp>
      <p:sp>
        <p:nvSpPr>
          <p:cNvPr id="24" name="Text 16"/>
          <p:cNvSpPr/>
          <p:nvPr/>
        </p:nvSpPr>
        <p:spPr>
          <a:xfrm>
            <a:off x="7156447" y="3057525"/>
            <a:ext cx="945040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159" dirty="0">
                <a:solidFill>
                  <a:srgbClr val="CBD5E1"/>
                </a:solidFill>
              </a:rPr>
              <a:t>人机对抗预测
 V/Q 失配预警
 撤机辅助</a:t>
            </a:r>
            <a:endParaRPr lang="en-US" sz="1159" dirty="0"/>
          </a:p>
        </p:txBody>
      </p:sp>
      <p:sp>
        <p:nvSpPr>
          <p:cNvPr id="25" name="Shape 17"/>
          <p:cNvSpPr/>
          <p:nvPr/>
        </p:nvSpPr>
        <p:spPr>
          <a:xfrm>
            <a:off x="3253336" y="4822031"/>
            <a:ext cx="2637327" cy="2857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18"/>
          <p:cNvSpPr/>
          <p:nvPr/>
        </p:nvSpPr>
        <p:spPr>
          <a:xfrm>
            <a:off x="3253336" y="4822031"/>
            <a:ext cx="2637327" cy="285750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DD4BF"/>
                </a:solidFill>
              </a:rPr>
              <a:t>实时闭环反馈 (Real-time Feedback)</a:t>
            </a:r>
            <a:endParaRPr lang="en-US" sz="987" dirty="0"/>
          </a:p>
        </p:txBody>
      </p:sp>
    </p:spTree>
    <p:extLst>
      <p:ext uri="{BB962C8B-B14F-4D97-AF65-F5344CB8AC3E}">
        <p14:creationId xmlns:p14="http://schemas.microsoft.com/office/powerpoint/2010/main" val="2103636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5" name="Text 1"/>
          <p:cNvSpPr/>
          <p:nvPr/>
        </p:nvSpPr>
        <p:spPr>
          <a:xfrm>
            <a:off x="428625" y="139303"/>
            <a:ext cx="5214351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核心黑科技：肺部血流灌注与 V/Q 匹配</a:t>
            </a:r>
            <a:endParaRPr lang="en-US" sz="2121" dirty="0"/>
          </a:p>
        </p:txBody>
      </p:sp>
      <p:sp>
        <p:nvSpPr>
          <p:cNvPr id="6" name="Shape 2"/>
          <p:cNvSpPr/>
          <p:nvPr/>
        </p:nvSpPr>
        <p:spPr>
          <a:xfrm>
            <a:off x="7561631" y="212527"/>
            <a:ext cx="1153744" cy="289322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7" name="Text 3"/>
          <p:cNvSpPr/>
          <p:nvPr/>
        </p:nvSpPr>
        <p:spPr>
          <a:xfrm>
            <a:off x="7561631" y="212527"/>
            <a:ext cx="1153744" cy="289322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TECHNOLOGY</a:t>
            </a:r>
            <a:endParaRPr lang="en-US" sz="885" dirty="0"/>
          </a:p>
        </p:txBody>
      </p:sp>
      <p:sp>
        <p:nvSpPr>
          <p:cNvPr id="8" name="Shape 4"/>
          <p:cNvSpPr/>
          <p:nvPr/>
        </p:nvSpPr>
        <p:spPr>
          <a:xfrm>
            <a:off x="428625" y="1000125"/>
            <a:ext cx="4000500" cy="12965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5"/>
          <p:cNvSpPr/>
          <p:nvPr/>
        </p:nvSpPr>
        <p:spPr>
          <a:xfrm>
            <a:off x="428625" y="1000125"/>
            <a:ext cx="42863" cy="1296591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0" name="Text 6"/>
          <p:cNvSpPr/>
          <p:nvPr/>
        </p:nvSpPr>
        <p:spPr>
          <a:xfrm>
            <a:off x="642938" y="1214438"/>
            <a:ext cx="357187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2A43"/>
                </a:solidFill>
              </a:rPr>
              <a:t>技术挑战 (The Challenge)</a:t>
            </a:r>
            <a:endParaRPr lang="en-US" sz="1397" dirty="0"/>
          </a:p>
        </p:txBody>
      </p:sp>
      <p:sp>
        <p:nvSpPr>
          <p:cNvPr id="11" name="Text 7"/>
          <p:cNvSpPr/>
          <p:nvPr/>
        </p:nvSpPr>
        <p:spPr>
          <a:xfrm>
            <a:off x="642938" y="1610916"/>
            <a:ext cx="35718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486581"/>
                </a:solidFill>
              </a:rPr>
              <a:t>心跳引起的阻抗信号极其微弱，仅为呼吸信号的 </a:t>
            </a:r>
            <a:r>
              <a:rPr lang="en-US" sz="1090" b="1" dirty="0">
                <a:solidFill>
                  <a:srgbClr val="486581"/>
                </a:solidFill>
              </a:rPr>
              <a:t>1/10</a:t>
            </a:r>
            <a:r>
              <a:rPr lang="en-US" sz="1159" dirty="0">
                <a:solidFill>
                  <a:srgbClr val="486581"/>
                </a:solidFill>
              </a:rPr>
              <a:t>，通常被淹没在噪声中。</a:t>
            </a:r>
            <a:endParaRPr lang="en-US" sz="1159" dirty="0"/>
          </a:p>
        </p:txBody>
      </p:sp>
      <p:sp>
        <p:nvSpPr>
          <p:cNvPr id="12" name="Shape 8"/>
          <p:cNvSpPr/>
          <p:nvPr/>
        </p:nvSpPr>
        <p:spPr>
          <a:xfrm>
            <a:off x="428625" y="2511028"/>
            <a:ext cx="4000500" cy="15323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428625" y="2511028"/>
            <a:ext cx="42863" cy="1532334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4" name="Text 10"/>
          <p:cNvSpPr/>
          <p:nvPr/>
        </p:nvSpPr>
        <p:spPr>
          <a:xfrm>
            <a:off x="642938" y="2725341"/>
            <a:ext cx="357187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2A43"/>
                </a:solidFill>
              </a:rPr>
              <a:t>我们的方案 (Our Solution)</a:t>
            </a:r>
            <a:endParaRPr lang="en-US" sz="1397" dirty="0"/>
          </a:p>
        </p:txBody>
      </p:sp>
      <p:sp>
        <p:nvSpPr>
          <p:cNvPr id="15" name="Text 11"/>
          <p:cNvSpPr/>
          <p:nvPr/>
        </p:nvSpPr>
        <p:spPr>
          <a:xfrm>
            <a:off x="642938" y="3121819"/>
            <a:ext cx="3571875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486581"/>
                </a:solidFill>
              </a:rPr>
              <a:t>专利信号分离算法 (Patent Pending)
 通过自适应滤波 + 心电门控，精准提取微弱的“心跳信号”。</a:t>
            </a:r>
            <a:endParaRPr lang="en-US" sz="1159" dirty="0"/>
          </a:p>
        </p:txBody>
      </p:sp>
      <p:sp>
        <p:nvSpPr>
          <p:cNvPr id="16" name="Shape 12"/>
          <p:cNvSpPr/>
          <p:nvPr/>
        </p:nvSpPr>
        <p:spPr>
          <a:xfrm>
            <a:off x="4714875" y="1000125"/>
            <a:ext cx="4000500" cy="1857375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7" name="Text 13"/>
          <p:cNvSpPr/>
          <p:nvPr/>
        </p:nvSpPr>
        <p:spPr>
          <a:xfrm>
            <a:off x="4929188" y="1359098"/>
            <a:ext cx="357187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38B2AC"/>
                </a:solidFill>
              </a:rPr>
              <a:t>r = 0.88</a:t>
            </a:r>
            <a:endParaRPr lang="en-US" sz="4145" dirty="0"/>
          </a:p>
        </p:txBody>
      </p:sp>
      <p:sp>
        <p:nvSpPr>
          <p:cNvPr id="18" name="Text 14"/>
          <p:cNvSpPr/>
          <p:nvPr/>
        </p:nvSpPr>
        <p:spPr>
          <a:xfrm>
            <a:off x="4929188" y="2002036"/>
            <a:ext cx="35718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BCCCDC"/>
                </a:solidFill>
              </a:rPr>
              <a:t>Correlation with CTPA (Gold Standard)</a:t>
            </a:r>
            <a:endParaRPr lang="en-US" sz="1193" dirty="0"/>
          </a:p>
        </p:txBody>
      </p:sp>
      <p:sp>
        <p:nvSpPr>
          <p:cNvPr id="19" name="Text 15"/>
          <p:cNvSpPr/>
          <p:nvPr/>
        </p:nvSpPr>
        <p:spPr>
          <a:xfrm>
            <a:off x="4929188" y="2343150"/>
            <a:ext cx="35718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829AB1"/>
                </a:solidFill>
              </a:rPr>
              <a:t>Source: Journal of Applied Physiology</a:t>
            </a:r>
            <a:endParaRPr lang="en-US" sz="834" dirty="0"/>
          </a:p>
        </p:txBody>
      </p:sp>
      <p:sp>
        <p:nvSpPr>
          <p:cNvPr id="20" name="Shape 16"/>
          <p:cNvSpPr/>
          <p:nvPr/>
        </p:nvSpPr>
        <p:spPr>
          <a:xfrm>
            <a:off x="4714875" y="3071813"/>
            <a:ext cx="4000500" cy="178593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3071813"/>
            <a:ext cx="4000500" cy="17859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5" name="Text 1"/>
          <p:cNvSpPr/>
          <p:nvPr/>
        </p:nvSpPr>
        <p:spPr>
          <a:xfrm>
            <a:off x="428625" y="139303"/>
            <a:ext cx="4787708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MyoBus：平台化扩张的数字化接口</a:t>
            </a:r>
            <a:endParaRPr lang="en-US" sz="2121" dirty="0"/>
          </a:p>
        </p:txBody>
      </p:sp>
      <p:sp>
        <p:nvSpPr>
          <p:cNvPr id="6" name="Shape 2"/>
          <p:cNvSpPr/>
          <p:nvPr/>
        </p:nvSpPr>
        <p:spPr>
          <a:xfrm>
            <a:off x="7755434" y="212527"/>
            <a:ext cx="959941" cy="289322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7" name="Text 3"/>
          <p:cNvSpPr/>
          <p:nvPr/>
        </p:nvSpPr>
        <p:spPr>
          <a:xfrm>
            <a:off x="7755434" y="212527"/>
            <a:ext cx="959941" cy="289322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PLATFORM</a:t>
            </a:r>
            <a:endParaRPr lang="en-US" sz="885" dirty="0"/>
          </a:p>
        </p:txBody>
      </p:sp>
      <p:sp>
        <p:nvSpPr>
          <p:cNvPr id="8" name="Shape 4"/>
          <p:cNvSpPr/>
          <p:nvPr/>
        </p:nvSpPr>
        <p:spPr>
          <a:xfrm>
            <a:off x="428625" y="1678781"/>
            <a:ext cx="2500313" cy="2500313"/>
          </a:xfrm>
          <a:prstGeom prst="ellipse">
            <a:avLst/>
          </a:prstGeom>
          <a:solidFill>
            <a:srgbClr val="102A43"/>
          </a:solidFill>
          <a:ln w="73152">
            <a:solidFill>
              <a:srgbClr val="38B2A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594" y="2212777"/>
            <a:ext cx="714375" cy="571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0348" y="3023592"/>
            <a:ext cx="135686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MyoBus</a:t>
            </a:r>
            <a:endParaRPr lang="en-US" sz="2436" dirty="0"/>
          </a:p>
        </p:txBody>
      </p:sp>
      <p:sp>
        <p:nvSpPr>
          <p:cNvPr id="11" name="Text 6"/>
          <p:cNvSpPr/>
          <p:nvPr/>
        </p:nvSpPr>
        <p:spPr>
          <a:xfrm>
            <a:off x="1026189" y="3561159"/>
            <a:ext cx="130518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CCCDC"/>
                </a:solidFill>
              </a:rPr>
              <a:t>Digital OS Interface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3286125" y="1361275"/>
            <a:ext cx="5429250" cy="9022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8"/>
          <p:cNvSpPr/>
          <p:nvPr/>
        </p:nvSpPr>
        <p:spPr>
          <a:xfrm>
            <a:off x="3286125" y="1361275"/>
            <a:ext cx="57150" cy="902233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4" name="Shape 9"/>
          <p:cNvSpPr/>
          <p:nvPr/>
        </p:nvSpPr>
        <p:spPr>
          <a:xfrm>
            <a:off x="3500438" y="1598079"/>
            <a:ext cx="428625" cy="428625"/>
          </a:xfrm>
          <a:prstGeom prst="ellipse">
            <a:avLst/>
          </a:prstGeom>
          <a:solidFill>
            <a:srgbClr val="FFF5F5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4738" y="1712379"/>
            <a:ext cx="200025" cy="200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107656" y="1539869"/>
            <a:ext cx="439340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2A43"/>
                </a:solidFill>
              </a:rPr>
              <a:t>1. 独家所有权</a:t>
            </a:r>
            <a:endParaRPr lang="en-US" sz="1397" dirty="0"/>
          </a:p>
        </p:txBody>
      </p:sp>
      <p:sp>
        <p:nvSpPr>
          <p:cNvPr id="17" name="Text 11"/>
          <p:cNvSpPr/>
          <p:nvPr/>
        </p:nvSpPr>
        <p:spPr>
          <a:xfrm>
            <a:off x="4107656" y="1864909"/>
            <a:ext cx="4393406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486581"/>
                </a:solidFill>
              </a:rPr>
              <a:t>由美国 B 公司 100% 持有，核心资产壁垒。</a:t>
            </a:r>
            <a:endParaRPr lang="en-US" sz="1159" dirty="0"/>
          </a:p>
        </p:txBody>
      </p:sp>
      <p:sp>
        <p:nvSpPr>
          <p:cNvPr id="18" name="Shape 12"/>
          <p:cNvSpPr/>
          <p:nvPr/>
        </p:nvSpPr>
        <p:spPr>
          <a:xfrm>
            <a:off x="3286125" y="2477821"/>
            <a:ext cx="5429250" cy="9022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3"/>
          <p:cNvSpPr/>
          <p:nvPr/>
        </p:nvSpPr>
        <p:spPr>
          <a:xfrm>
            <a:off x="3286125" y="2477821"/>
            <a:ext cx="57150" cy="90223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0" name="Shape 14"/>
          <p:cNvSpPr/>
          <p:nvPr/>
        </p:nvSpPr>
        <p:spPr>
          <a:xfrm>
            <a:off x="3500438" y="2714625"/>
            <a:ext cx="428625" cy="428625"/>
          </a:xfrm>
          <a:prstGeom prst="ellipse">
            <a:avLst/>
          </a:prstGeom>
          <a:solidFill>
            <a:srgbClr val="E6FFF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7239" y="2828925"/>
            <a:ext cx="175022" cy="2000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107656" y="2656415"/>
            <a:ext cx="439340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2A43"/>
                </a:solidFill>
              </a:rPr>
              <a:t>2. 绝对安全</a:t>
            </a:r>
            <a:endParaRPr lang="en-US" sz="1397" dirty="0"/>
          </a:p>
        </p:txBody>
      </p:sp>
      <p:sp>
        <p:nvSpPr>
          <p:cNvPr id="23" name="Text 16"/>
          <p:cNvSpPr/>
          <p:nvPr/>
        </p:nvSpPr>
        <p:spPr>
          <a:xfrm>
            <a:off x="4107656" y="2981455"/>
            <a:ext cx="4393406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486581"/>
                </a:solidFill>
              </a:rPr>
              <a:t>蓝牙无线隔离，完美解决电气安全 (FDA Compliant)。</a:t>
            </a:r>
            <a:endParaRPr lang="en-US" sz="1159" dirty="0"/>
          </a:p>
        </p:txBody>
      </p:sp>
      <p:sp>
        <p:nvSpPr>
          <p:cNvPr id="24" name="Shape 17"/>
          <p:cNvSpPr/>
          <p:nvPr/>
        </p:nvSpPr>
        <p:spPr>
          <a:xfrm>
            <a:off x="3286125" y="3594367"/>
            <a:ext cx="5429250" cy="9022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18"/>
          <p:cNvSpPr/>
          <p:nvPr/>
        </p:nvSpPr>
        <p:spPr>
          <a:xfrm>
            <a:off x="3286125" y="3594367"/>
            <a:ext cx="57150" cy="902233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26" name="Shape 19"/>
          <p:cNvSpPr/>
          <p:nvPr/>
        </p:nvSpPr>
        <p:spPr>
          <a:xfrm>
            <a:off x="3500438" y="3831171"/>
            <a:ext cx="428625" cy="428625"/>
          </a:xfrm>
          <a:prstGeom prst="ellipse">
            <a:avLst/>
          </a:prstGeom>
          <a:solidFill>
            <a:srgbClr val="FFFFF0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4738" y="3945471"/>
            <a:ext cx="200025" cy="20002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107656" y="3772960"/>
            <a:ext cx="439340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2A43"/>
                </a:solidFill>
              </a:rPr>
              <a:t>3. 生态潜力</a:t>
            </a:r>
            <a:endParaRPr lang="en-US" sz="1397" dirty="0"/>
          </a:p>
        </p:txBody>
      </p:sp>
      <p:sp>
        <p:nvSpPr>
          <p:cNvPr id="29" name="Text 21"/>
          <p:cNvSpPr/>
          <p:nvPr/>
        </p:nvSpPr>
        <p:spPr>
          <a:xfrm>
            <a:off x="4107656" y="4098001"/>
            <a:ext cx="4393406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486581"/>
                </a:solidFill>
              </a:rPr>
              <a:t>呼吸机领域的 </a:t>
            </a:r>
            <a:r>
              <a:rPr lang="en-US" sz="1090" b="1" dirty="0">
                <a:solidFill>
                  <a:srgbClr val="486581"/>
                </a:solidFill>
              </a:rPr>
              <a:t>"Intel Inside"</a:t>
            </a:r>
            <a:r>
              <a:rPr lang="en-US" sz="1159" dirty="0">
                <a:solidFill>
                  <a:srgbClr val="486581"/>
                </a:solidFill>
              </a:rPr>
              <a:t>，开放接入认证。</a:t>
            </a:r>
            <a:endParaRPr lang="en-US" sz="115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4293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357188" y="96441"/>
            <a:ext cx="4300538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kern="0" spc="1" dirty="0">
                <a:solidFill>
                  <a:srgbClr val="FFFFFF"/>
                </a:solidFill>
              </a:rPr>
              <a:t>竞争格局：高维度、差异化竞争</a:t>
            </a:r>
            <a:endParaRPr lang="en-US" sz="2121" dirty="0"/>
          </a:p>
        </p:txBody>
      </p:sp>
      <p:sp>
        <p:nvSpPr>
          <p:cNvPr id="5" name="Shape 2"/>
          <p:cNvSpPr/>
          <p:nvPr/>
        </p:nvSpPr>
        <p:spPr>
          <a:xfrm>
            <a:off x="6702010" y="167878"/>
            <a:ext cx="2084803" cy="307181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3"/>
          <p:cNvSpPr/>
          <p:nvPr/>
        </p:nvSpPr>
        <p:spPr>
          <a:xfrm>
            <a:off x="6702010" y="167878"/>
            <a:ext cx="2084803" cy="307181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kern="0" spc="1" dirty="0">
                <a:solidFill>
                  <a:srgbClr val="0F172A"/>
                </a:solidFill>
              </a:rPr>
              <a:t>COMPETITIVE LANDSCAPE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285750" y="857250"/>
            <a:ext cx="1714500" cy="46289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5"/>
          <p:cNvSpPr/>
          <p:nvPr/>
        </p:nvSpPr>
        <p:spPr>
          <a:xfrm>
            <a:off x="285750" y="1291568"/>
            <a:ext cx="1714500" cy="2857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6"/>
          <p:cNvSpPr/>
          <p:nvPr/>
        </p:nvSpPr>
        <p:spPr>
          <a:xfrm>
            <a:off x="285750" y="857250"/>
            <a:ext cx="1714500" cy="462893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对比维度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2000250" y="857250"/>
            <a:ext cx="1714500" cy="46289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2000250" y="1291568"/>
            <a:ext cx="1714500" cy="2857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9"/>
          <p:cNvSpPr/>
          <p:nvPr/>
        </p:nvSpPr>
        <p:spPr>
          <a:xfrm>
            <a:off x="2000250" y="857250"/>
            <a:ext cx="1714500" cy="462893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本项目 (EIT + sEMG)</a:t>
            </a:r>
            <a:endParaRPr lang="en-US" sz="1090" dirty="0"/>
          </a:p>
        </p:txBody>
      </p:sp>
      <p:sp>
        <p:nvSpPr>
          <p:cNvPr id="13" name="Shape 10"/>
          <p:cNvSpPr/>
          <p:nvPr/>
        </p:nvSpPr>
        <p:spPr>
          <a:xfrm>
            <a:off x="3714750" y="857250"/>
            <a:ext cx="1714500" cy="46289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1"/>
          <p:cNvSpPr/>
          <p:nvPr/>
        </p:nvSpPr>
        <p:spPr>
          <a:xfrm>
            <a:off x="3714750" y="1291568"/>
            <a:ext cx="1714500" cy="2857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5" name="Text 12"/>
          <p:cNvSpPr/>
          <p:nvPr/>
        </p:nvSpPr>
        <p:spPr>
          <a:xfrm>
            <a:off x="3714750" y="857250"/>
            <a:ext cx="1714500" cy="462893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Getinge NAVA</a:t>
            </a:r>
            <a:endParaRPr lang="en-US" sz="1090" dirty="0"/>
          </a:p>
        </p:txBody>
      </p:sp>
      <p:sp>
        <p:nvSpPr>
          <p:cNvPr id="16" name="Shape 13"/>
          <p:cNvSpPr/>
          <p:nvPr/>
        </p:nvSpPr>
        <p:spPr>
          <a:xfrm>
            <a:off x="5429250" y="857250"/>
            <a:ext cx="1714500" cy="46289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4"/>
          <p:cNvSpPr/>
          <p:nvPr/>
        </p:nvSpPr>
        <p:spPr>
          <a:xfrm>
            <a:off x="5429250" y="1291568"/>
            <a:ext cx="1714500" cy="2857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Text 15"/>
          <p:cNvSpPr/>
          <p:nvPr/>
        </p:nvSpPr>
        <p:spPr>
          <a:xfrm>
            <a:off x="5429250" y="857250"/>
            <a:ext cx="1714500" cy="462893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Timpel (仅 EIT)</a:t>
            </a:r>
            <a:endParaRPr lang="en-US" sz="1090" dirty="0"/>
          </a:p>
        </p:txBody>
      </p:sp>
      <p:sp>
        <p:nvSpPr>
          <p:cNvPr id="19" name="Shape 16"/>
          <p:cNvSpPr/>
          <p:nvPr/>
        </p:nvSpPr>
        <p:spPr>
          <a:xfrm>
            <a:off x="7143750" y="857250"/>
            <a:ext cx="1714500" cy="46289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7"/>
          <p:cNvSpPr/>
          <p:nvPr/>
        </p:nvSpPr>
        <p:spPr>
          <a:xfrm>
            <a:off x="7143750" y="1291568"/>
            <a:ext cx="1714500" cy="2857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1" name="Text 18"/>
          <p:cNvSpPr/>
          <p:nvPr/>
        </p:nvSpPr>
        <p:spPr>
          <a:xfrm>
            <a:off x="7143750" y="857250"/>
            <a:ext cx="1714500" cy="462893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传统呼吸机</a:t>
            </a:r>
            <a:endParaRPr lang="en-US" sz="1090" dirty="0"/>
          </a:p>
        </p:txBody>
      </p:sp>
      <p:sp>
        <p:nvSpPr>
          <p:cNvPr id="22" name="Shape 19"/>
          <p:cNvSpPr/>
          <p:nvPr/>
        </p:nvSpPr>
        <p:spPr>
          <a:xfrm>
            <a:off x="285750" y="1305855"/>
            <a:ext cx="1714500" cy="4536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Text 20"/>
          <p:cNvSpPr/>
          <p:nvPr/>
        </p:nvSpPr>
        <p:spPr>
          <a:xfrm>
            <a:off x="285750" y="1305855"/>
            <a:ext cx="1714500" cy="453628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4155"/>
                </a:solidFill>
              </a:rPr>
              <a:t>呼吸驱动监测</a:t>
            </a:r>
            <a:endParaRPr lang="en-US" sz="987" dirty="0"/>
          </a:p>
        </p:txBody>
      </p:sp>
      <p:sp>
        <p:nvSpPr>
          <p:cNvPr id="24" name="Shape 21"/>
          <p:cNvSpPr/>
          <p:nvPr/>
        </p:nvSpPr>
        <p:spPr>
          <a:xfrm>
            <a:off x="2000250" y="1305855"/>
            <a:ext cx="1714500" cy="45362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5" name="Text 22"/>
          <p:cNvSpPr/>
          <p:nvPr/>
        </p:nvSpPr>
        <p:spPr>
          <a:xfrm>
            <a:off x="2000250" y="1305855"/>
            <a:ext cx="1714500" cy="453628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D4ED8"/>
                </a:solidFill>
              </a:rPr>
              <a:t>直接神经信号</a:t>
            </a:r>
            <a:endParaRPr lang="en-US" sz="987" dirty="0"/>
          </a:p>
        </p:txBody>
      </p:sp>
      <p:sp>
        <p:nvSpPr>
          <p:cNvPr id="26" name="Text 23"/>
          <p:cNvSpPr/>
          <p:nvPr/>
        </p:nvSpPr>
        <p:spPr>
          <a:xfrm>
            <a:off x="3714750" y="1305855"/>
            <a:ext cx="1714500" cy="453628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膈肌电信号 (有创)</a:t>
            </a:r>
            <a:endParaRPr lang="en-US" sz="105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970" y="1420155"/>
            <a:ext cx="125016" cy="20002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258985" y="1443372"/>
            <a:ext cx="1800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无</a:t>
            </a:r>
            <a:endParaRPr lang="en-US" sz="105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470" y="1420155"/>
            <a:ext cx="125016" cy="20002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973485" y="1443372"/>
            <a:ext cx="1800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无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85750" y="1759483"/>
            <a:ext cx="85725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Shape 27"/>
          <p:cNvSpPr/>
          <p:nvPr/>
        </p:nvSpPr>
        <p:spPr>
          <a:xfrm>
            <a:off x="285750" y="2209540"/>
            <a:ext cx="85725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Shape 28"/>
          <p:cNvSpPr/>
          <p:nvPr/>
        </p:nvSpPr>
        <p:spPr>
          <a:xfrm>
            <a:off x="285750" y="1759483"/>
            <a:ext cx="1714500" cy="4536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29"/>
          <p:cNvSpPr/>
          <p:nvPr/>
        </p:nvSpPr>
        <p:spPr>
          <a:xfrm>
            <a:off x="285750" y="1759483"/>
            <a:ext cx="1714500" cy="453628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4155"/>
                </a:solidFill>
              </a:rPr>
              <a:t>肺复张评估</a:t>
            </a:r>
            <a:endParaRPr lang="en-US" sz="987" dirty="0"/>
          </a:p>
        </p:txBody>
      </p:sp>
      <p:sp>
        <p:nvSpPr>
          <p:cNvPr id="35" name="Shape 30"/>
          <p:cNvSpPr/>
          <p:nvPr/>
        </p:nvSpPr>
        <p:spPr>
          <a:xfrm>
            <a:off x="2000250" y="1759483"/>
            <a:ext cx="1714500" cy="45362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6" name="Text 31"/>
          <p:cNvSpPr/>
          <p:nvPr/>
        </p:nvSpPr>
        <p:spPr>
          <a:xfrm>
            <a:off x="2000250" y="1759483"/>
            <a:ext cx="1714500" cy="453628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D4ED8"/>
                </a:solidFill>
              </a:rPr>
              <a:t>V/Q 可视化</a:t>
            </a:r>
            <a:endParaRPr lang="en-US" sz="987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470" y="1877355"/>
            <a:ext cx="125016" cy="200025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544485" y="1900572"/>
            <a:ext cx="1800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无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5429250" y="1759483"/>
            <a:ext cx="1714500" cy="453628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通气分布 (V)</a:t>
            </a:r>
            <a:endParaRPr lang="en-US" sz="105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470" y="1877355"/>
            <a:ext cx="125016" cy="200025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973485" y="1900572"/>
            <a:ext cx="1800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无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285750" y="2213111"/>
            <a:ext cx="1714500" cy="4536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3" name="Text 36"/>
          <p:cNvSpPr/>
          <p:nvPr/>
        </p:nvSpPr>
        <p:spPr>
          <a:xfrm>
            <a:off x="285750" y="2213111"/>
            <a:ext cx="1714500" cy="453628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4155"/>
                </a:solidFill>
              </a:rPr>
              <a:t>人机对抗监测</a:t>
            </a:r>
            <a:endParaRPr lang="en-US" sz="987" dirty="0"/>
          </a:p>
        </p:txBody>
      </p:sp>
      <p:sp>
        <p:nvSpPr>
          <p:cNvPr id="44" name="Shape 37"/>
          <p:cNvSpPr/>
          <p:nvPr/>
        </p:nvSpPr>
        <p:spPr>
          <a:xfrm>
            <a:off x="2000250" y="2213111"/>
            <a:ext cx="1714500" cy="453628"/>
          </a:xfrm>
          <a:prstGeom prst="rect">
            <a:avLst/>
          </a:prstGeom>
          <a:solidFill>
            <a:srgbClr val="E0F2FE"/>
          </a:solidFill>
          <a:ln/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6152" y="2327411"/>
            <a:ext cx="200025" cy="200025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2586177" y="2350629"/>
            <a:ext cx="74267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D4ED8"/>
                </a:solidFill>
              </a:rPr>
              <a:t>高 (预测性)</a:t>
            </a:r>
            <a:endParaRPr lang="en-US" sz="987" dirty="0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6205" y="2327411"/>
            <a:ext cx="200025" cy="200025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4306230" y="2350629"/>
            <a:ext cx="73153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中 (滞后性)</a:t>
            </a:r>
            <a:endParaRPr lang="en-US" sz="1050" dirty="0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2143" y="2327411"/>
            <a:ext cx="200025" cy="200025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6092168" y="2350629"/>
            <a:ext cx="58866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低 (间接)</a:t>
            </a:r>
            <a:endParaRPr lang="en-US" sz="1050" dirty="0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470" y="2327411"/>
            <a:ext cx="125016" cy="200025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7973485" y="2350629"/>
            <a:ext cx="1800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无</a:t>
            </a:r>
            <a:endParaRPr lang="en-US" sz="1050" dirty="0"/>
          </a:p>
        </p:txBody>
      </p:sp>
      <p:sp>
        <p:nvSpPr>
          <p:cNvPr id="53" name="Shape 42"/>
          <p:cNvSpPr/>
          <p:nvPr/>
        </p:nvSpPr>
        <p:spPr>
          <a:xfrm>
            <a:off x="285750" y="2666740"/>
            <a:ext cx="85725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4" name="Shape 43"/>
          <p:cNvSpPr/>
          <p:nvPr/>
        </p:nvSpPr>
        <p:spPr>
          <a:xfrm>
            <a:off x="285750" y="3116796"/>
            <a:ext cx="85725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Shape 44"/>
          <p:cNvSpPr/>
          <p:nvPr/>
        </p:nvSpPr>
        <p:spPr>
          <a:xfrm>
            <a:off x="285750" y="2666740"/>
            <a:ext cx="1714500" cy="4536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6" name="Text 45"/>
          <p:cNvSpPr/>
          <p:nvPr/>
        </p:nvSpPr>
        <p:spPr>
          <a:xfrm>
            <a:off x="285750" y="2666740"/>
            <a:ext cx="1714500" cy="453628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4155"/>
                </a:solidFill>
              </a:rPr>
              <a:t>闭环自动化</a:t>
            </a:r>
            <a:endParaRPr lang="en-US" sz="987" dirty="0"/>
          </a:p>
        </p:txBody>
      </p:sp>
      <p:sp>
        <p:nvSpPr>
          <p:cNvPr id="57" name="Shape 46"/>
          <p:cNvSpPr/>
          <p:nvPr/>
        </p:nvSpPr>
        <p:spPr>
          <a:xfrm>
            <a:off x="2000250" y="2666740"/>
            <a:ext cx="1714500" cy="45362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58" name="Text 47"/>
          <p:cNvSpPr/>
          <p:nvPr/>
        </p:nvSpPr>
        <p:spPr>
          <a:xfrm>
            <a:off x="2000250" y="2666740"/>
            <a:ext cx="1714500" cy="453628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D4ED8"/>
                </a:solidFill>
              </a:rPr>
              <a:t>AI 驱动</a:t>
            </a:r>
            <a:endParaRPr lang="en-US" sz="987" dirty="0"/>
          </a:p>
        </p:txBody>
      </p:sp>
      <p:sp>
        <p:nvSpPr>
          <p:cNvPr id="59" name="Text 48"/>
          <p:cNvSpPr/>
          <p:nvPr/>
        </p:nvSpPr>
        <p:spPr>
          <a:xfrm>
            <a:off x="3714750" y="2666740"/>
            <a:ext cx="1714500" cy="453628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部分闭环</a:t>
            </a:r>
            <a:endParaRPr lang="en-US" sz="1050" dirty="0"/>
          </a:p>
        </p:txBody>
      </p:sp>
      <p:pic>
        <p:nvPicPr>
          <p:cNvPr id="6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970" y="2784611"/>
            <a:ext cx="125016" cy="200025"/>
          </a:xfrm>
          <a:prstGeom prst="rect">
            <a:avLst/>
          </a:prstGeom>
        </p:spPr>
      </p:pic>
      <p:sp>
        <p:nvSpPr>
          <p:cNvPr id="61" name="Text 49"/>
          <p:cNvSpPr/>
          <p:nvPr/>
        </p:nvSpPr>
        <p:spPr>
          <a:xfrm>
            <a:off x="6258985" y="2807829"/>
            <a:ext cx="1800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无</a:t>
            </a:r>
            <a:endParaRPr lang="en-US" sz="1050" dirty="0"/>
          </a:p>
        </p:txBody>
      </p:sp>
      <p:pic>
        <p:nvPicPr>
          <p:cNvPr id="6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470" y="2784611"/>
            <a:ext cx="125016" cy="200025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7973485" y="2807829"/>
            <a:ext cx="1800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无</a:t>
            </a:r>
            <a:endParaRPr lang="en-US" sz="1050" dirty="0"/>
          </a:p>
        </p:txBody>
      </p:sp>
      <p:sp>
        <p:nvSpPr>
          <p:cNvPr id="64" name="Shape 51"/>
          <p:cNvSpPr/>
          <p:nvPr/>
        </p:nvSpPr>
        <p:spPr>
          <a:xfrm>
            <a:off x="285750" y="3120368"/>
            <a:ext cx="1714500" cy="43219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5" name="Text 52"/>
          <p:cNvSpPr/>
          <p:nvPr/>
        </p:nvSpPr>
        <p:spPr>
          <a:xfrm>
            <a:off x="285750" y="3120368"/>
            <a:ext cx="1714500" cy="432197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4155"/>
                </a:solidFill>
              </a:rPr>
              <a:t>临床证据 (EBM)</a:t>
            </a:r>
            <a:endParaRPr lang="en-US" sz="987" dirty="0"/>
          </a:p>
        </p:txBody>
      </p:sp>
      <p:sp>
        <p:nvSpPr>
          <p:cNvPr id="66" name="Shape 53"/>
          <p:cNvSpPr/>
          <p:nvPr/>
        </p:nvSpPr>
        <p:spPr>
          <a:xfrm>
            <a:off x="2000250" y="3120368"/>
            <a:ext cx="1714500" cy="432197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67" name="Text 54"/>
          <p:cNvSpPr/>
          <p:nvPr/>
        </p:nvSpPr>
        <p:spPr>
          <a:xfrm>
            <a:off x="2000250" y="3120368"/>
            <a:ext cx="1714500" cy="432197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D4ED8"/>
                </a:solidFill>
              </a:rPr>
              <a:t>A-Level (目标)</a:t>
            </a:r>
            <a:endParaRPr lang="en-US" sz="987" dirty="0"/>
          </a:p>
        </p:txBody>
      </p:sp>
      <p:sp>
        <p:nvSpPr>
          <p:cNvPr id="68" name="Text 55"/>
          <p:cNvSpPr/>
          <p:nvPr/>
        </p:nvSpPr>
        <p:spPr>
          <a:xfrm>
            <a:off x="3714750" y="3120368"/>
            <a:ext cx="1714500" cy="432197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B-Level</a:t>
            </a:r>
            <a:endParaRPr lang="en-US" sz="1050" dirty="0"/>
          </a:p>
        </p:txBody>
      </p:sp>
      <p:sp>
        <p:nvSpPr>
          <p:cNvPr id="69" name="Text 56"/>
          <p:cNvSpPr/>
          <p:nvPr/>
        </p:nvSpPr>
        <p:spPr>
          <a:xfrm>
            <a:off x="5429250" y="3120368"/>
            <a:ext cx="1714500" cy="432197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B-Level</a:t>
            </a:r>
            <a:endParaRPr lang="en-US" sz="1050" dirty="0"/>
          </a:p>
        </p:txBody>
      </p:sp>
      <p:sp>
        <p:nvSpPr>
          <p:cNvPr id="70" name="Text 57"/>
          <p:cNvSpPr/>
          <p:nvPr/>
        </p:nvSpPr>
        <p:spPr>
          <a:xfrm>
            <a:off x="7143750" y="3120368"/>
            <a:ext cx="1714500" cy="432197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C-Level</a:t>
            </a:r>
            <a:endParaRPr lang="en-US" sz="1050" dirty="0"/>
          </a:p>
        </p:txBody>
      </p:sp>
      <p:sp>
        <p:nvSpPr>
          <p:cNvPr id="71" name="Shape 58"/>
          <p:cNvSpPr/>
          <p:nvPr/>
        </p:nvSpPr>
        <p:spPr>
          <a:xfrm>
            <a:off x="285750" y="3552565"/>
            <a:ext cx="8572500" cy="432197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2" name="Shape 59"/>
          <p:cNvSpPr/>
          <p:nvPr/>
        </p:nvSpPr>
        <p:spPr>
          <a:xfrm>
            <a:off x="285750" y="3552565"/>
            <a:ext cx="1714500" cy="43219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3" name="Text 60"/>
          <p:cNvSpPr/>
          <p:nvPr/>
        </p:nvSpPr>
        <p:spPr>
          <a:xfrm>
            <a:off x="285750" y="3552565"/>
            <a:ext cx="1714500" cy="432197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4155"/>
                </a:solidFill>
              </a:rPr>
              <a:t>价格</a:t>
            </a:r>
            <a:endParaRPr lang="en-US" sz="987" dirty="0"/>
          </a:p>
        </p:txBody>
      </p:sp>
      <p:sp>
        <p:nvSpPr>
          <p:cNvPr id="74" name="Shape 61"/>
          <p:cNvSpPr/>
          <p:nvPr/>
        </p:nvSpPr>
        <p:spPr>
          <a:xfrm>
            <a:off x="2000250" y="3552565"/>
            <a:ext cx="1714500" cy="432197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75" name="Text 62"/>
          <p:cNvSpPr/>
          <p:nvPr/>
        </p:nvSpPr>
        <p:spPr>
          <a:xfrm>
            <a:off x="2000250" y="3552565"/>
            <a:ext cx="1714500" cy="432197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D4ED8"/>
                </a:solidFill>
              </a:rPr>
              <a:t>中</a:t>
            </a:r>
            <a:endParaRPr lang="en-US" sz="987" dirty="0"/>
          </a:p>
        </p:txBody>
      </p:sp>
      <p:sp>
        <p:nvSpPr>
          <p:cNvPr id="76" name="Text 63"/>
          <p:cNvSpPr/>
          <p:nvPr/>
        </p:nvSpPr>
        <p:spPr>
          <a:xfrm>
            <a:off x="3714750" y="3552565"/>
            <a:ext cx="1714500" cy="432197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高</a:t>
            </a:r>
            <a:endParaRPr lang="en-US" sz="1050" dirty="0"/>
          </a:p>
        </p:txBody>
      </p:sp>
      <p:sp>
        <p:nvSpPr>
          <p:cNvPr id="77" name="Text 64"/>
          <p:cNvSpPr/>
          <p:nvPr/>
        </p:nvSpPr>
        <p:spPr>
          <a:xfrm>
            <a:off x="5429250" y="3552565"/>
            <a:ext cx="1714500" cy="432197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高</a:t>
            </a:r>
            <a:endParaRPr lang="en-US" sz="1050" dirty="0"/>
          </a:p>
        </p:txBody>
      </p:sp>
      <p:sp>
        <p:nvSpPr>
          <p:cNvPr id="78" name="Text 65"/>
          <p:cNvSpPr/>
          <p:nvPr/>
        </p:nvSpPr>
        <p:spPr>
          <a:xfrm>
            <a:off x="7143750" y="3552565"/>
            <a:ext cx="1714500" cy="432197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低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429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35794"/>
            <a:ext cx="9144000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96441"/>
            <a:ext cx="6257925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kern="0" spc="1" dirty="0">
                <a:solidFill>
                  <a:srgbClr val="FFFFFF"/>
                </a:solidFill>
              </a:rPr>
              <a:t>MyoBus 生态：呼吸机领域的 "Intel Inside"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7693400" y="167878"/>
            <a:ext cx="1093412" cy="307181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4"/>
          <p:cNvSpPr/>
          <p:nvPr/>
        </p:nvSpPr>
        <p:spPr>
          <a:xfrm>
            <a:off x="7693400" y="167878"/>
            <a:ext cx="1093412" cy="307181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kern="0" spc="1" dirty="0">
                <a:solidFill>
                  <a:srgbClr val="0F172A"/>
                </a:solidFill>
              </a:rPr>
              <a:t>ECOSYSTEM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3857625" y="2178844"/>
            <a:ext cx="1428750" cy="1428750"/>
          </a:xfrm>
          <a:prstGeom prst="ellipse">
            <a:avLst/>
          </a:prstGeom>
          <a:solidFill>
            <a:srgbClr val="1E293B"/>
          </a:solidFill>
          <a:ln w="36576">
            <a:solidFill>
              <a:srgbClr val="2DD4B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975" y="2421731"/>
            <a:ext cx="400050" cy="4000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76247" y="2893219"/>
            <a:ext cx="79150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MyoBus</a:t>
            </a:r>
            <a:endParaRPr lang="en-US" sz="1397" dirty="0"/>
          </a:p>
        </p:txBody>
      </p:sp>
      <p:sp>
        <p:nvSpPr>
          <p:cNvPr id="11" name="Text 7"/>
          <p:cNvSpPr/>
          <p:nvPr/>
        </p:nvSpPr>
        <p:spPr>
          <a:xfrm>
            <a:off x="4329113" y="3193256"/>
            <a:ext cx="4857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kern="0" spc="1" dirty="0">
                <a:solidFill>
                  <a:srgbClr val="94A3B8"/>
                </a:solidFill>
              </a:rPr>
              <a:t>数字核心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3571875" y="1000125"/>
            <a:ext cx="2000250" cy="771525"/>
          </a:xfrm>
          <a:prstGeom prst="rect">
            <a:avLst/>
          </a:prstGeom>
          <a:solidFill>
            <a:srgbClr val="1E293B"/>
          </a:solidFill>
          <a:ln w="18288">
            <a:solidFill>
              <a:srgbClr val="47556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786188" y="1193006"/>
            <a:ext cx="357188" cy="357188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625" y="1285875"/>
            <a:ext cx="214313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86250" y="1143000"/>
            <a:ext cx="91225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呼吸机</a:t>
            </a:r>
            <a:endParaRPr lang="en-US" sz="1193" dirty="0"/>
          </a:p>
        </p:txBody>
      </p:sp>
      <p:sp>
        <p:nvSpPr>
          <p:cNvPr id="16" name="Text 11"/>
          <p:cNvSpPr/>
          <p:nvPr/>
        </p:nvSpPr>
        <p:spPr>
          <a:xfrm>
            <a:off x="4286250" y="1428750"/>
            <a:ext cx="91225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Dräger, Hamilton</a:t>
            </a:r>
            <a:endParaRPr lang="en-US" sz="834" dirty="0"/>
          </a:p>
        </p:txBody>
      </p:sp>
      <p:sp>
        <p:nvSpPr>
          <p:cNvPr id="17" name="Shape 12"/>
          <p:cNvSpPr/>
          <p:nvPr/>
        </p:nvSpPr>
        <p:spPr>
          <a:xfrm>
            <a:off x="5929313" y="2421731"/>
            <a:ext cx="2000250" cy="942975"/>
          </a:xfrm>
          <a:prstGeom prst="rect">
            <a:avLst/>
          </a:prstGeom>
          <a:solidFill>
            <a:srgbClr val="1E293B"/>
          </a:solidFill>
          <a:ln w="18288">
            <a:solidFill>
              <a:srgbClr val="47556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43625" y="2714625"/>
            <a:ext cx="357188" cy="357188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5778" y="2807494"/>
            <a:ext cx="192881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43688" y="2664619"/>
            <a:ext cx="106221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监护仪</a:t>
            </a:r>
            <a:endParaRPr lang="en-US" sz="1193" dirty="0"/>
          </a:p>
        </p:txBody>
      </p:sp>
      <p:sp>
        <p:nvSpPr>
          <p:cNvPr id="21" name="Text 15"/>
          <p:cNvSpPr/>
          <p:nvPr/>
        </p:nvSpPr>
        <p:spPr>
          <a:xfrm>
            <a:off x="6643688" y="2950369"/>
            <a:ext cx="106221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Philips, GE, Mindray</a:t>
            </a:r>
            <a:endParaRPr lang="en-US" sz="834" dirty="0"/>
          </a:p>
        </p:txBody>
      </p:sp>
      <p:sp>
        <p:nvSpPr>
          <p:cNvPr id="22" name="Shape 16"/>
          <p:cNvSpPr/>
          <p:nvPr/>
        </p:nvSpPr>
        <p:spPr>
          <a:xfrm>
            <a:off x="3571875" y="3869122"/>
            <a:ext cx="2000250" cy="771525"/>
          </a:xfrm>
          <a:prstGeom prst="rect">
            <a:avLst/>
          </a:prstGeom>
          <a:solidFill>
            <a:srgbClr val="1E293B"/>
          </a:solidFill>
          <a:ln w="18288">
            <a:solidFill>
              <a:srgbClr val="475569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786188" y="4236244"/>
            <a:ext cx="357188" cy="357188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9772" y="4329113"/>
            <a:ext cx="150019" cy="1714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286250" y="4186238"/>
            <a:ext cx="8143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医院系统</a:t>
            </a:r>
            <a:endParaRPr lang="en-US" sz="1193" dirty="0"/>
          </a:p>
        </p:txBody>
      </p:sp>
      <p:sp>
        <p:nvSpPr>
          <p:cNvPr id="26" name="Text 19"/>
          <p:cNvSpPr/>
          <p:nvPr/>
        </p:nvSpPr>
        <p:spPr>
          <a:xfrm>
            <a:off x="4286250" y="4471988"/>
            <a:ext cx="8143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HIS, EMR, PACS</a:t>
            </a:r>
            <a:endParaRPr lang="en-US" sz="834" dirty="0"/>
          </a:p>
        </p:txBody>
      </p:sp>
      <p:sp>
        <p:nvSpPr>
          <p:cNvPr id="27" name="Shape 20"/>
          <p:cNvSpPr/>
          <p:nvPr/>
        </p:nvSpPr>
        <p:spPr>
          <a:xfrm>
            <a:off x="1214438" y="2507456"/>
            <a:ext cx="2000250" cy="771525"/>
          </a:xfrm>
          <a:prstGeom prst="rect">
            <a:avLst/>
          </a:prstGeom>
          <a:solidFill>
            <a:srgbClr val="1E293B"/>
          </a:solidFill>
          <a:ln w="18288">
            <a:solidFill>
              <a:srgbClr val="475569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1428750" y="2714625"/>
            <a:ext cx="357188" cy="357188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0188" y="2807494"/>
            <a:ext cx="214313" cy="17145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928813" y="2664619"/>
            <a:ext cx="74392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AI 云平台</a:t>
            </a:r>
            <a:endParaRPr lang="en-US" sz="1193" dirty="0"/>
          </a:p>
        </p:txBody>
      </p:sp>
      <p:sp>
        <p:nvSpPr>
          <p:cNvPr id="31" name="Text 23"/>
          <p:cNvSpPr/>
          <p:nvPr/>
        </p:nvSpPr>
        <p:spPr>
          <a:xfrm>
            <a:off x="1928813" y="2950369"/>
            <a:ext cx="74392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大数据分析</a:t>
            </a:r>
            <a:endParaRPr lang="en-US" sz="834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3723" y="4714875"/>
            <a:ext cx="171450" cy="17145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2360898" y="4672013"/>
            <a:ext cx="857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CBD5E1"/>
                </a:solidFill>
              </a:rPr>
              <a:t>通用兼容性</a:t>
            </a:r>
            <a:endParaRPr lang="en-US" sz="1193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89648" y="4714875"/>
            <a:ext cx="128588" cy="17145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003960" y="4672013"/>
            <a:ext cx="132377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CBD5E1"/>
                </a:solidFill>
              </a:rPr>
              <a:t>实时同步 (&lt; 1ms)</a:t>
            </a:r>
            <a:endParaRPr lang="en-US" sz="1193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9231" y="4714875"/>
            <a:ext cx="171450" cy="17145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156406" y="4672013"/>
            <a:ext cx="8838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CBD5E1"/>
                </a:solidFill>
              </a:rPr>
              <a:t>FDA 级安全</a:t>
            </a:r>
            <a:endParaRPr lang="en-US" sz="119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5" name="Text 1"/>
          <p:cNvSpPr/>
          <p:nvPr/>
        </p:nvSpPr>
        <p:spPr>
          <a:xfrm>
            <a:off x="428625" y="139303"/>
            <a:ext cx="4500563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全球架构：资产安全与利益最大化</a:t>
            </a:r>
            <a:endParaRPr lang="en-US" sz="2121" dirty="0"/>
          </a:p>
        </p:txBody>
      </p:sp>
      <p:sp>
        <p:nvSpPr>
          <p:cNvPr id="6" name="Shape 2"/>
          <p:cNvSpPr/>
          <p:nvPr/>
        </p:nvSpPr>
        <p:spPr>
          <a:xfrm>
            <a:off x="7700656" y="212527"/>
            <a:ext cx="1014719" cy="289322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7" name="Text 3"/>
          <p:cNvSpPr/>
          <p:nvPr/>
        </p:nvSpPr>
        <p:spPr>
          <a:xfrm>
            <a:off x="7700656" y="212527"/>
            <a:ext cx="1014719" cy="289322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STRUCTURE</a:t>
            </a:r>
            <a:endParaRPr lang="en-US" sz="885" dirty="0"/>
          </a:p>
        </p:txBody>
      </p:sp>
      <p:sp>
        <p:nvSpPr>
          <p:cNvPr id="8" name="Shape 4"/>
          <p:cNvSpPr/>
          <p:nvPr/>
        </p:nvSpPr>
        <p:spPr>
          <a:xfrm>
            <a:off x="84211" y="1000124"/>
            <a:ext cx="4000500" cy="3857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5"/>
          <p:cNvSpPr/>
          <p:nvPr/>
        </p:nvSpPr>
        <p:spPr>
          <a:xfrm>
            <a:off x="84211" y="1000124"/>
            <a:ext cx="4000500" cy="5715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0" name="Shape 6"/>
          <p:cNvSpPr/>
          <p:nvPr/>
        </p:nvSpPr>
        <p:spPr>
          <a:xfrm>
            <a:off x="298524" y="1214437"/>
            <a:ext cx="3571875" cy="5107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298524" y="1710927"/>
            <a:ext cx="3571875" cy="1428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8"/>
          <p:cNvSpPr/>
          <p:nvPr/>
        </p:nvSpPr>
        <p:spPr>
          <a:xfrm>
            <a:off x="298524" y="1214437"/>
            <a:ext cx="357188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45" dirty="0">
                <a:solidFill>
                  <a:srgbClr val="000000"/>
                </a:solidFill>
              </a:rPr>
              <a:t>🇨🇳</a:t>
            </a:r>
            <a:endParaRPr lang="en-US" sz="2145" dirty="0"/>
          </a:p>
        </p:txBody>
      </p:sp>
      <p:sp>
        <p:nvSpPr>
          <p:cNvPr id="13" name="Text 9"/>
          <p:cNvSpPr/>
          <p:nvPr/>
        </p:nvSpPr>
        <p:spPr>
          <a:xfrm>
            <a:off x="762867" y="1222473"/>
            <a:ext cx="3324628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zh-CN" altLang="en-US" sz="1808" b="1" dirty="0">
                <a:solidFill>
                  <a:srgbClr val="102A43"/>
                </a:solidFill>
              </a:rPr>
              <a:t>中国</a:t>
            </a:r>
            <a:r>
              <a:rPr lang="en-US" sz="1808" b="1" dirty="0">
                <a:solidFill>
                  <a:srgbClr val="102A43"/>
                </a:solidFill>
              </a:rPr>
              <a:t>-</a:t>
            </a:r>
            <a:r>
              <a:rPr lang="zh-CN" altLang="en-US" sz="1808" b="1" dirty="0">
                <a:solidFill>
                  <a:srgbClr val="102A43"/>
                </a:solidFill>
              </a:rPr>
              <a:t>思澜科技（成都）有限公司</a:t>
            </a:r>
            <a:endParaRPr lang="en-US" sz="1808" dirty="0"/>
          </a:p>
        </p:txBody>
      </p:sp>
      <p:sp>
        <p:nvSpPr>
          <p:cNvPr id="14" name="Shape 10"/>
          <p:cNvSpPr/>
          <p:nvPr/>
        </p:nvSpPr>
        <p:spPr>
          <a:xfrm>
            <a:off x="298524" y="1889521"/>
            <a:ext cx="1973266" cy="321469"/>
          </a:xfrm>
          <a:prstGeom prst="rect">
            <a:avLst/>
          </a:prstGeom>
          <a:solidFill>
            <a:srgbClr val="FED7D7"/>
          </a:solidFill>
          <a:ln/>
        </p:spPr>
      </p:sp>
      <p:sp>
        <p:nvSpPr>
          <p:cNvPr id="15" name="Text 11"/>
          <p:cNvSpPr/>
          <p:nvPr/>
        </p:nvSpPr>
        <p:spPr>
          <a:xfrm>
            <a:off x="298524" y="1889521"/>
            <a:ext cx="1973266" cy="321469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B2C2C"/>
                </a:solidFill>
              </a:rPr>
              <a:t>制造中心 (Manufacturing)</a:t>
            </a:r>
            <a:endParaRPr lang="en-US" sz="987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24" y="2393155"/>
            <a:ext cx="214313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9992" y="2353865"/>
            <a:ext cx="12001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486581"/>
                </a:solidFill>
              </a:rPr>
              <a:t>成熟供应链体系</a:t>
            </a:r>
            <a:endParaRPr lang="en-US" sz="1269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524" y="2786062"/>
            <a:ext cx="214313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9992" y="2746771"/>
            <a:ext cx="1308050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 err="1">
                <a:solidFill>
                  <a:srgbClr val="486581"/>
                </a:solidFill>
                <a:latin typeface="+mn-ea"/>
              </a:rPr>
              <a:t>低研发</a:t>
            </a:r>
            <a:r>
              <a:rPr lang="zh-CN" altLang="en-US" sz="1269" dirty="0">
                <a:solidFill>
                  <a:srgbClr val="486581"/>
                </a:solidFill>
                <a:latin typeface="+mn-ea"/>
              </a:rPr>
              <a:t>和临床成本</a:t>
            </a:r>
            <a:endParaRPr lang="en-US" sz="1269" dirty="0">
              <a:latin typeface="+mn-ea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524" y="3178968"/>
            <a:ext cx="214313" cy="1714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19992" y="3139677"/>
            <a:ext cx="102870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486581"/>
                </a:solidFill>
              </a:rPr>
              <a:t>快速迭代能力</a:t>
            </a:r>
            <a:endParaRPr lang="en-US" sz="1269" dirty="0"/>
          </a:p>
        </p:txBody>
      </p:sp>
      <p:sp>
        <p:nvSpPr>
          <p:cNvPr id="22" name="Shape 15"/>
          <p:cNvSpPr/>
          <p:nvPr/>
        </p:nvSpPr>
        <p:spPr>
          <a:xfrm>
            <a:off x="3588800" y="2361009"/>
            <a:ext cx="1966401" cy="421481"/>
          </a:xfrm>
          <a:prstGeom prst="roundRect">
            <a:avLst/>
          </a:prstGeom>
          <a:solidFill>
            <a:srgbClr val="102A43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8698" y="2500312"/>
            <a:ext cx="142875" cy="14287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017425" y="2468166"/>
            <a:ext cx="132346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风险隔离 &amp; 价值互补</a:t>
            </a:r>
            <a:endParaRPr lang="en-US" sz="987" dirty="0"/>
          </a:p>
        </p:txBody>
      </p:sp>
      <p:sp>
        <p:nvSpPr>
          <p:cNvPr id="25" name="Shape 17"/>
          <p:cNvSpPr/>
          <p:nvPr/>
        </p:nvSpPr>
        <p:spPr>
          <a:xfrm>
            <a:off x="5661996" y="1067989"/>
            <a:ext cx="2798553" cy="3857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18"/>
          <p:cNvSpPr/>
          <p:nvPr/>
        </p:nvSpPr>
        <p:spPr>
          <a:xfrm>
            <a:off x="5143500" y="1000125"/>
            <a:ext cx="4000500" cy="5715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7" name="Shape 19"/>
          <p:cNvSpPr/>
          <p:nvPr/>
        </p:nvSpPr>
        <p:spPr>
          <a:xfrm>
            <a:off x="5357813" y="1214438"/>
            <a:ext cx="3571875" cy="5107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20"/>
          <p:cNvSpPr/>
          <p:nvPr/>
        </p:nvSpPr>
        <p:spPr>
          <a:xfrm>
            <a:off x="5357813" y="1710928"/>
            <a:ext cx="3571875" cy="1428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Text 21"/>
          <p:cNvSpPr/>
          <p:nvPr/>
        </p:nvSpPr>
        <p:spPr>
          <a:xfrm>
            <a:off x="5939609" y="1221581"/>
            <a:ext cx="357188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45" dirty="0">
                <a:solidFill>
                  <a:srgbClr val="000000"/>
                </a:solidFill>
              </a:rPr>
              <a:t>🇺🇸</a:t>
            </a:r>
            <a:endParaRPr lang="en-US" sz="2145" dirty="0"/>
          </a:p>
        </p:txBody>
      </p:sp>
      <p:sp>
        <p:nvSpPr>
          <p:cNvPr id="30" name="Text 22"/>
          <p:cNvSpPr/>
          <p:nvPr/>
        </p:nvSpPr>
        <p:spPr>
          <a:xfrm>
            <a:off x="6403952" y="1229617"/>
            <a:ext cx="1335267" cy="3732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02A43"/>
                </a:solidFill>
              </a:rPr>
              <a:t>美国 B 公司</a:t>
            </a:r>
            <a:endParaRPr lang="en-US" sz="1808" dirty="0"/>
          </a:p>
        </p:txBody>
      </p:sp>
      <p:sp>
        <p:nvSpPr>
          <p:cNvPr id="31" name="Shape 23"/>
          <p:cNvSpPr/>
          <p:nvPr/>
        </p:nvSpPr>
        <p:spPr>
          <a:xfrm>
            <a:off x="5939609" y="1896665"/>
            <a:ext cx="1885810" cy="321469"/>
          </a:xfrm>
          <a:prstGeom prst="rect">
            <a:avLst/>
          </a:prstGeom>
          <a:solidFill>
            <a:srgbClr val="B2F5EA"/>
          </a:solidFill>
          <a:ln/>
        </p:spPr>
      </p:sp>
      <p:sp>
        <p:nvSpPr>
          <p:cNvPr id="32" name="Text 24"/>
          <p:cNvSpPr/>
          <p:nvPr/>
        </p:nvSpPr>
        <p:spPr>
          <a:xfrm>
            <a:off x="5939609" y="1896665"/>
            <a:ext cx="1885810" cy="321469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85E61"/>
                </a:solidFill>
              </a:rPr>
              <a:t>资产中心 (Assets Holder)</a:t>
            </a:r>
            <a:endParaRPr lang="en-US" sz="987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09" y="2400299"/>
            <a:ext cx="214313" cy="17145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261077" y="2361009"/>
            <a:ext cx="179269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486581"/>
                </a:solidFill>
              </a:rPr>
              <a:t>持有全部核心 IP &amp; 专利</a:t>
            </a:r>
            <a:endParaRPr lang="en-US" sz="1269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609" y="2793206"/>
            <a:ext cx="214313" cy="17145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261077" y="2753915"/>
            <a:ext cx="105066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486581"/>
                </a:solidFill>
              </a:rPr>
              <a:t>FDA 认证主体</a:t>
            </a:r>
            <a:endParaRPr lang="en-US" sz="1269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9609" y="3186112"/>
            <a:ext cx="214313" cy="17145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261077" y="3146821"/>
            <a:ext cx="12001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86581"/>
                </a:solidFill>
              </a:rPr>
              <a:t>高估值并购标的</a:t>
            </a:r>
            <a:endParaRPr lang="en-US" sz="119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5005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357188" y="0"/>
            <a:ext cx="5529263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kern="0" spc="1" dirty="0">
                <a:solidFill>
                  <a:srgbClr val="FFFFFF"/>
                </a:solidFill>
              </a:rPr>
              <a:t>知识产权与资产合规性：全球唯一所有权</a:t>
            </a:r>
            <a:endParaRPr lang="en-US" sz="2121" dirty="0"/>
          </a:p>
        </p:txBody>
      </p:sp>
      <p:sp>
        <p:nvSpPr>
          <p:cNvPr id="5" name="Shape 2"/>
          <p:cNvSpPr/>
          <p:nvPr/>
        </p:nvSpPr>
        <p:spPr>
          <a:xfrm>
            <a:off x="7246246" y="71438"/>
            <a:ext cx="1540566" cy="307181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3"/>
          <p:cNvSpPr/>
          <p:nvPr/>
        </p:nvSpPr>
        <p:spPr>
          <a:xfrm>
            <a:off x="7246246" y="71438"/>
            <a:ext cx="1540566" cy="307181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kern="0" spc="1" dirty="0">
                <a:solidFill>
                  <a:srgbClr val="0F172A"/>
                </a:solidFill>
              </a:rPr>
              <a:t>IP &amp; COMPLIANCE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357188" y="735806"/>
            <a:ext cx="2643188" cy="40275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357188" y="735806"/>
            <a:ext cx="2643188" cy="571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607219" y="1011538"/>
            <a:ext cx="428625" cy="42862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770" y="1118695"/>
            <a:ext cx="187523" cy="2143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985838"/>
            <a:ext cx="157821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F172A"/>
                </a:solidFill>
              </a:rPr>
              <a:t>核心资产“美国化”
</a:t>
            </a:r>
            <a:r>
              <a:rPr lang="en-US" sz="834" dirty="0">
                <a:solidFill>
                  <a:srgbClr val="64748B"/>
                </a:solidFill>
              </a:rPr>
              <a:t>US-Centric IP Strategy</a:t>
            </a:r>
            <a:endParaRPr lang="en-US" sz="1397" dirty="0"/>
          </a:p>
        </p:txBody>
      </p:sp>
      <p:sp>
        <p:nvSpPr>
          <p:cNvPr id="12" name="Text 8"/>
          <p:cNvSpPr/>
          <p:nvPr/>
        </p:nvSpPr>
        <p:spPr>
          <a:xfrm>
            <a:off x="607219" y="1644458"/>
            <a:ext cx="21431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334155"/>
                </a:solidFill>
              </a:rPr>
              <a:t>100% 所有权持有</a:t>
            </a:r>
            <a:endParaRPr lang="en-US" sz="1090" dirty="0"/>
          </a:p>
        </p:txBody>
      </p:sp>
      <p:sp>
        <p:nvSpPr>
          <p:cNvPr id="13" name="Text 9"/>
          <p:cNvSpPr/>
          <p:nvPr/>
        </p:nvSpPr>
        <p:spPr>
          <a:xfrm>
            <a:off x="607219" y="1937352"/>
            <a:ext cx="2143125" cy="560859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美国 B </a:t>
            </a:r>
            <a:r>
              <a:rPr lang="en-US" sz="942" dirty="0" err="1">
                <a:solidFill>
                  <a:srgbClr val="64748B"/>
                </a:solidFill>
              </a:rPr>
              <a:t>公司全额买断并持有所有核心专利、软著及专有算法</a:t>
            </a:r>
            <a:r>
              <a:rPr lang="en-US" sz="942" dirty="0">
                <a:solidFill>
                  <a:srgbClr val="64748B"/>
                </a:solidFill>
              </a:rPr>
              <a:t>。</a:t>
            </a:r>
            <a:r>
              <a:rPr lang="zh-CN" altLang="en-US" sz="942" dirty="0">
                <a:solidFill>
                  <a:srgbClr val="64748B"/>
                </a:solidFill>
              </a:rPr>
              <a:t>并即刻开展纯粹的美国本土研发。</a:t>
            </a:r>
            <a:endParaRPr lang="en-US" sz="942" dirty="0"/>
          </a:p>
        </p:txBody>
      </p:sp>
      <p:sp>
        <p:nvSpPr>
          <p:cNvPr id="14" name="Text 10"/>
          <p:cNvSpPr/>
          <p:nvPr/>
        </p:nvSpPr>
        <p:spPr>
          <a:xfrm>
            <a:off x="607219" y="2501708"/>
            <a:ext cx="21431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334155"/>
                </a:solidFill>
              </a:rPr>
              <a:t>资产重构与买断</a:t>
            </a:r>
            <a:endParaRPr lang="en-US" sz="1090" dirty="0"/>
          </a:p>
        </p:txBody>
      </p:sp>
      <p:sp>
        <p:nvSpPr>
          <p:cNvPr id="15" name="Text 11"/>
          <p:cNvSpPr/>
          <p:nvPr/>
        </p:nvSpPr>
        <p:spPr>
          <a:xfrm>
            <a:off x="607219" y="2794602"/>
            <a:ext cx="2143125" cy="385763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专项资金确保 IP 从关联方正式转让，资产表征清晰无瑕疵。</a:t>
            </a:r>
            <a:endParaRPr lang="en-US" sz="942" dirty="0"/>
          </a:p>
        </p:txBody>
      </p:sp>
      <p:sp>
        <p:nvSpPr>
          <p:cNvPr id="16" name="Text 12"/>
          <p:cNvSpPr/>
          <p:nvPr/>
        </p:nvSpPr>
        <p:spPr>
          <a:xfrm>
            <a:off x="607219" y="3358958"/>
            <a:ext cx="21431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334155"/>
                </a:solidFill>
              </a:rPr>
              <a:t>FDA 申报主体</a:t>
            </a:r>
            <a:endParaRPr lang="en-US" sz="1090" dirty="0"/>
          </a:p>
        </p:txBody>
      </p:sp>
      <p:sp>
        <p:nvSpPr>
          <p:cNvPr id="17" name="Text 13"/>
          <p:cNvSpPr/>
          <p:nvPr/>
        </p:nvSpPr>
        <p:spPr>
          <a:xfrm>
            <a:off x="607219" y="3651852"/>
            <a:ext cx="2143125" cy="385763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美国 B 公司作为唯一 FDA 注册主体，掌控全球市场准入权。</a:t>
            </a:r>
            <a:endParaRPr lang="en-US" sz="942" dirty="0"/>
          </a:p>
        </p:txBody>
      </p:sp>
      <p:sp>
        <p:nvSpPr>
          <p:cNvPr id="18" name="Shape 14"/>
          <p:cNvSpPr/>
          <p:nvPr/>
        </p:nvSpPr>
        <p:spPr>
          <a:xfrm>
            <a:off x="3250406" y="735806"/>
            <a:ext cx="2643188" cy="40275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3250406" y="735806"/>
            <a:ext cx="2643188" cy="571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6"/>
          <p:cNvSpPr/>
          <p:nvPr/>
        </p:nvSpPr>
        <p:spPr>
          <a:xfrm>
            <a:off x="3500438" y="1131531"/>
            <a:ext cx="359280" cy="42862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2907" y="1238687"/>
            <a:ext cx="214313" cy="21431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966874" y="985838"/>
            <a:ext cx="1676688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F172A"/>
                </a:solidFill>
              </a:rPr>
              <a:t>严密的法律与风险隔离
</a:t>
            </a:r>
            <a:r>
              <a:rPr lang="en-US" sz="834" dirty="0">
                <a:solidFill>
                  <a:srgbClr val="64748B"/>
                </a:solidFill>
              </a:rPr>
              <a:t>Risk Isolation</a:t>
            </a:r>
            <a:endParaRPr lang="en-US" sz="1397" dirty="0"/>
          </a:p>
        </p:txBody>
      </p:sp>
      <p:sp>
        <p:nvSpPr>
          <p:cNvPr id="23" name="Text 18"/>
          <p:cNvSpPr/>
          <p:nvPr/>
        </p:nvSpPr>
        <p:spPr>
          <a:xfrm>
            <a:off x="3500438" y="1884471"/>
            <a:ext cx="21431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334155"/>
                </a:solidFill>
              </a:rPr>
              <a:t>架构解耦</a:t>
            </a:r>
            <a:endParaRPr lang="en-US" sz="1090" dirty="0"/>
          </a:p>
        </p:txBody>
      </p:sp>
      <p:sp>
        <p:nvSpPr>
          <p:cNvPr id="24" name="Text 19"/>
          <p:cNvSpPr/>
          <p:nvPr/>
        </p:nvSpPr>
        <p:spPr>
          <a:xfrm>
            <a:off x="3500438" y="2177365"/>
            <a:ext cx="2143125" cy="385763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中国主体定位为“实验与制造中心”，利用成熟供应链降低成本。</a:t>
            </a:r>
            <a:endParaRPr lang="en-US" sz="942" dirty="0"/>
          </a:p>
        </p:txBody>
      </p:sp>
      <p:sp>
        <p:nvSpPr>
          <p:cNvPr id="25" name="Text 20"/>
          <p:cNvSpPr/>
          <p:nvPr/>
        </p:nvSpPr>
        <p:spPr>
          <a:xfrm>
            <a:off x="3500438" y="3353341"/>
            <a:ext cx="21431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 err="1">
                <a:solidFill>
                  <a:srgbClr val="334155"/>
                </a:solidFill>
              </a:rPr>
              <a:t>合同约束与授权</a:t>
            </a:r>
            <a:endParaRPr lang="en-US" sz="1090" dirty="0"/>
          </a:p>
        </p:txBody>
      </p:sp>
      <p:sp>
        <p:nvSpPr>
          <p:cNvPr id="26" name="Text 21"/>
          <p:cNvSpPr/>
          <p:nvPr/>
        </p:nvSpPr>
        <p:spPr>
          <a:xfrm>
            <a:off x="3500438" y="3646235"/>
            <a:ext cx="2143125" cy="385763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独家委托加工协议确保底层技术不外流，核心“大脑”留在美国。</a:t>
            </a:r>
            <a:endParaRPr lang="en-US" sz="942" dirty="0"/>
          </a:p>
        </p:txBody>
      </p:sp>
      <p:sp>
        <p:nvSpPr>
          <p:cNvPr id="27" name="Text 22"/>
          <p:cNvSpPr/>
          <p:nvPr/>
        </p:nvSpPr>
        <p:spPr>
          <a:xfrm>
            <a:off x="3500438" y="4210591"/>
            <a:ext cx="21431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334155"/>
                </a:solidFill>
              </a:rPr>
              <a:t>MyoBus 独家壁垒</a:t>
            </a:r>
            <a:endParaRPr lang="en-US" sz="1090" dirty="0"/>
          </a:p>
        </p:txBody>
      </p:sp>
      <p:sp>
        <p:nvSpPr>
          <p:cNvPr id="28" name="Text 23"/>
          <p:cNvSpPr/>
          <p:nvPr/>
        </p:nvSpPr>
        <p:spPr>
          <a:xfrm>
            <a:off x="3500438" y="4503485"/>
            <a:ext cx="2143125" cy="385763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协议标准由美国 B 公司 100% 掌控，构建排他性生态护城河。</a:t>
            </a:r>
            <a:endParaRPr lang="en-US" sz="942" dirty="0"/>
          </a:p>
        </p:txBody>
      </p:sp>
      <p:sp>
        <p:nvSpPr>
          <p:cNvPr id="29" name="Shape 24"/>
          <p:cNvSpPr/>
          <p:nvPr/>
        </p:nvSpPr>
        <p:spPr>
          <a:xfrm>
            <a:off x="6143625" y="735806"/>
            <a:ext cx="2643188" cy="39704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5"/>
          <p:cNvSpPr/>
          <p:nvPr/>
        </p:nvSpPr>
        <p:spPr>
          <a:xfrm>
            <a:off x="6143625" y="735806"/>
            <a:ext cx="2643188" cy="571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1" name="Shape 26"/>
          <p:cNvSpPr/>
          <p:nvPr/>
        </p:nvSpPr>
        <p:spPr>
          <a:xfrm>
            <a:off x="6393656" y="1011538"/>
            <a:ext cx="428625" cy="42862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4023" y="1118695"/>
            <a:ext cx="267891" cy="214313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929438" y="985838"/>
            <a:ext cx="14001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F172A"/>
                </a:solidFill>
              </a:rPr>
              <a:t>透明的合规路径
</a:t>
            </a:r>
            <a:r>
              <a:rPr lang="en-US" sz="834" dirty="0">
                <a:solidFill>
                  <a:srgbClr val="64748B"/>
                </a:solidFill>
              </a:rPr>
              <a:t>Transparent Compliance</a:t>
            </a:r>
            <a:endParaRPr lang="en-US" sz="1397" dirty="0"/>
          </a:p>
        </p:txBody>
      </p:sp>
      <p:sp>
        <p:nvSpPr>
          <p:cNvPr id="34" name="Text 28"/>
          <p:cNvSpPr/>
          <p:nvPr/>
        </p:nvSpPr>
        <p:spPr>
          <a:xfrm>
            <a:off x="6393656" y="1644458"/>
            <a:ext cx="21431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334155"/>
                </a:solidFill>
              </a:rPr>
              <a:t>合规先行</a:t>
            </a:r>
            <a:endParaRPr lang="en-US" sz="1090" dirty="0"/>
          </a:p>
        </p:txBody>
      </p:sp>
      <p:sp>
        <p:nvSpPr>
          <p:cNvPr id="35" name="Text 29"/>
          <p:cNvSpPr/>
          <p:nvPr/>
        </p:nvSpPr>
        <p:spPr>
          <a:xfrm>
            <a:off x="6393656" y="1937352"/>
            <a:ext cx="2143125" cy="385763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sEMG 率先通过无线共存性及网络安全测试，符合 FDA 监管要求。</a:t>
            </a:r>
            <a:endParaRPr lang="en-US" sz="942" dirty="0"/>
          </a:p>
        </p:txBody>
      </p:sp>
      <p:sp>
        <p:nvSpPr>
          <p:cNvPr id="36" name="Text 30"/>
          <p:cNvSpPr/>
          <p:nvPr/>
        </p:nvSpPr>
        <p:spPr>
          <a:xfrm>
            <a:off x="6393656" y="2501708"/>
            <a:ext cx="21431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334155"/>
                </a:solidFill>
              </a:rPr>
              <a:t>资产透明度</a:t>
            </a:r>
            <a:endParaRPr lang="en-US" sz="1090" dirty="0"/>
          </a:p>
        </p:txBody>
      </p:sp>
      <p:sp>
        <p:nvSpPr>
          <p:cNvPr id="37" name="Text 31"/>
          <p:cNvSpPr/>
          <p:nvPr/>
        </p:nvSpPr>
        <p:spPr>
          <a:xfrm>
            <a:off x="6393656" y="2794602"/>
            <a:ext cx="2143125" cy="385763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融资后 6 个月内完成全部确权，提供清白的审计基础。</a:t>
            </a:r>
            <a:endParaRPr lang="en-US" sz="942" dirty="0"/>
          </a:p>
        </p:txBody>
      </p:sp>
      <p:sp>
        <p:nvSpPr>
          <p:cNvPr id="38" name="Text 32"/>
          <p:cNvSpPr/>
          <p:nvPr/>
        </p:nvSpPr>
        <p:spPr>
          <a:xfrm>
            <a:off x="6393656" y="3358958"/>
            <a:ext cx="21431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334155"/>
                </a:solidFill>
              </a:rPr>
              <a:t>并购准备</a:t>
            </a:r>
            <a:endParaRPr lang="en-US" sz="1090" dirty="0"/>
          </a:p>
        </p:txBody>
      </p:sp>
      <p:sp>
        <p:nvSpPr>
          <p:cNvPr id="39" name="Text 33"/>
          <p:cNvSpPr/>
          <p:nvPr/>
        </p:nvSpPr>
        <p:spPr>
          <a:xfrm>
            <a:off x="6393656" y="3651852"/>
            <a:ext cx="2143125" cy="385763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为后续估值翻倍及巨头并购扫清法律障碍。</a:t>
            </a:r>
            <a:endParaRPr lang="en-US" sz="942" dirty="0"/>
          </a:p>
        </p:txBody>
      </p:sp>
      <p:sp>
        <p:nvSpPr>
          <p:cNvPr id="40" name="Shape 34"/>
          <p:cNvSpPr/>
          <p:nvPr/>
        </p:nvSpPr>
        <p:spPr>
          <a:xfrm>
            <a:off x="0" y="4992002"/>
            <a:ext cx="9144000" cy="1514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1" name="Shape 35"/>
          <p:cNvSpPr/>
          <p:nvPr/>
        </p:nvSpPr>
        <p:spPr>
          <a:xfrm>
            <a:off x="0" y="4992002"/>
            <a:ext cx="57150" cy="943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2" name="Text 36"/>
          <p:cNvSpPr/>
          <p:nvPr/>
        </p:nvSpPr>
        <p:spPr>
          <a:xfrm>
            <a:off x="1100556" y="4927736"/>
            <a:ext cx="6942888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“我们将中国作为高效的‘实验室’和‘车间’，而将美国公司打造成坚固的 </a:t>
            </a:r>
            <a:r>
              <a:rPr lang="en-US" sz="1397" b="1" dirty="0">
                <a:solidFill>
                  <a:srgbClr val="2DD4BF"/>
                </a:solidFill>
              </a:rPr>
              <a:t>‘保险柜’</a:t>
            </a:r>
            <a:r>
              <a:rPr lang="en-US" sz="1397" b="1" dirty="0">
                <a:solidFill>
                  <a:srgbClr val="FFFFFF"/>
                </a:solidFill>
              </a:rPr>
              <a:t>。”</a:t>
            </a:r>
            <a:endParaRPr lang="en-US" sz="1397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DC3D4EF8-D669-19AD-332D-DEC4AFA03685}"/>
              </a:ext>
            </a:extLst>
          </p:cNvPr>
          <p:cNvSpPr/>
          <p:nvPr/>
        </p:nvSpPr>
        <p:spPr>
          <a:xfrm>
            <a:off x="3526755" y="2651671"/>
            <a:ext cx="836768" cy="2199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zh-CN" altLang="en-US" sz="1090" b="1" dirty="0">
                <a:solidFill>
                  <a:srgbClr val="334155"/>
                </a:solidFill>
              </a:rPr>
              <a:t>美国本土研发</a:t>
            </a:r>
            <a:endParaRPr lang="en-US" sz="1090" dirty="0"/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38BC9B04-2BB1-1B1F-5B82-A99B038B6759}"/>
              </a:ext>
            </a:extLst>
          </p:cNvPr>
          <p:cNvSpPr/>
          <p:nvPr/>
        </p:nvSpPr>
        <p:spPr>
          <a:xfrm>
            <a:off x="3513909" y="2956129"/>
            <a:ext cx="2143125" cy="368499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zh-CN" altLang="en-US" sz="942" dirty="0">
                <a:solidFill>
                  <a:srgbClr val="64748B"/>
                </a:solidFill>
              </a:rPr>
              <a:t>美国本土研发，建立完整清晰的研发记录和代码仓库</a:t>
            </a:r>
            <a:endParaRPr lang="en-US" sz="94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5" name="Text 1"/>
          <p:cNvSpPr/>
          <p:nvPr/>
        </p:nvSpPr>
        <p:spPr>
          <a:xfrm>
            <a:off x="428625" y="139303"/>
            <a:ext cx="4266242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FDA 准入路径：分步走，降风险</a:t>
            </a:r>
            <a:endParaRPr lang="en-US" sz="2121" dirty="0"/>
          </a:p>
        </p:txBody>
      </p:sp>
      <p:sp>
        <p:nvSpPr>
          <p:cNvPr id="6" name="Shape 2"/>
          <p:cNvSpPr/>
          <p:nvPr/>
        </p:nvSpPr>
        <p:spPr>
          <a:xfrm>
            <a:off x="7604606" y="212527"/>
            <a:ext cx="1110769" cy="289322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7" name="Text 3"/>
          <p:cNvSpPr/>
          <p:nvPr/>
        </p:nvSpPr>
        <p:spPr>
          <a:xfrm>
            <a:off x="7604606" y="212527"/>
            <a:ext cx="1110769" cy="289322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REGULATORY</a:t>
            </a:r>
            <a:endParaRPr lang="en-US" sz="885" dirty="0"/>
          </a:p>
        </p:txBody>
      </p:sp>
      <p:sp>
        <p:nvSpPr>
          <p:cNvPr id="8" name="Shape 4"/>
          <p:cNvSpPr/>
          <p:nvPr/>
        </p:nvSpPr>
        <p:spPr>
          <a:xfrm>
            <a:off x="428625" y="1223367"/>
            <a:ext cx="4000500" cy="21199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5"/>
          <p:cNvSpPr/>
          <p:nvPr/>
        </p:nvSpPr>
        <p:spPr>
          <a:xfrm>
            <a:off x="428625" y="1223367"/>
            <a:ext cx="4000500" cy="5715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0" name="Shape 6"/>
          <p:cNvSpPr/>
          <p:nvPr/>
        </p:nvSpPr>
        <p:spPr>
          <a:xfrm>
            <a:off x="642938" y="1466255"/>
            <a:ext cx="902122" cy="308967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1" name="Text 7"/>
          <p:cNvSpPr/>
          <p:nvPr/>
        </p:nvSpPr>
        <p:spPr>
          <a:xfrm>
            <a:off x="642938" y="1466255"/>
            <a:ext cx="902122" cy="308967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Month 6</a:t>
            </a:r>
            <a:endParaRPr lang="en-US" sz="987" dirty="0"/>
          </a:p>
        </p:txBody>
      </p:sp>
      <p:sp>
        <p:nvSpPr>
          <p:cNvPr id="12" name="Shape 8"/>
          <p:cNvSpPr/>
          <p:nvPr/>
        </p:nvSpPr>
        <p:spPr>
          <a:xfrm>
            <a:off x="3425484" y="1490365"/>
            <a:ext cx="789329" cy="260747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3" name="Text 9"/>
          <p:cNvSpPr/>
          <p:nvPr/>
        </p:nvSpPr>
        <p:spPr>
          <a:xfrm>
            <a:off x="3425484" y="1490365"/>
            <a:ext cx="789329" cy="260747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27D98"/>
                </a:solidFill>
              </a:rPr>
              <a:t>Code: IKN</a:t>
            </a:r>
            <a:endParaRPr lang="en-US" sz="885" dirty="0"/>
          </a:p>
        </p:txBody>
      </p:sp>
      <p:sp>
        <p:nvSpPr>
          <p:cNvPr id="14" name="Text 10"/>
          <p:cNvSpPr/>
          <p:nvPr/>
        </p:nvSpPr>
        <p:spPr>
          <a:xfrm>
            <a:off x="642938" y="1953816"/>
            <a:ext cx="1793183" cy="547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200"/>
              </a:lnSpc>
            </a:pPr>
            <a:r>
              <a:rPr lang="en-US" sz="1602" b="1" dirty="0" err="1">
                <a:solidFill>
                  <a:srgbClr val="102A43"/>
                </a:solidFill>
              </a:rPr>
              <a:t>sEMG</a:t>
            </a:r>
            <a:r>
              <a:rPr lang="en-US" sz="1602" b="1" dirty="0">
                <a:solidFill>
                  <a:srgbClr val="102A43"/>
                </a:solidFill>
              </a:rPr>
              <a:t> </a:t>
            </a:r>
            <a:r>
              <a:rPr lang="en-US" sz="1602" b="1" dirty="0" err="1">
                <a:solidFill>
                  <a:srgbClr val="102A43"/>
                </a:solidFill>
              </a:rPr>
              <a:t>模块</a:t>
            </a:r>
            <a:r>
              <a:rPr lang="en-US" altLang="zh-CN" sz="1602" b="1" dirty="0">
                <a:solidFill>
                  <a:srgbClr val="102A43"/>
                </a:solidFill>
              </a:rPr>
              <a:t>+ </a:t>
            </a:r>
            <a:r>
              <a:rPr lang="en-US" altLang="zh-CN" sz="1602" b="1" dirty="0" err="1">
                <a:solidFill>
                  <a:srgbClr val="102A43"/>
                </a:solidFill>
              </a:rPr>
              <a:t>MyoBus</a:t>
            </a:r>
            <a:endParaRPr lang="en-US" altLang="zh-CN" sz="1602" dirty="0"/>
          </a:p>
          <a:p>
            <a:pPr marL="0" indent="0" algn="l">
              <a:lnSpc>
                <a:spcPts val="2200"/>
              </a:lnSpc>
              <a:buNone/>
            </a:pPr>
            <a:endParaRPr lang="en-US" sz="1602" dirty="0"/>
          </a:p>
        </p:txBody>
      </p:sp>
      <p:sp>
        <p:nvSpPr>
          <p:cNvPr id="15" name="Text 11"/>
          <p:cNvSpPr/>
          <p:nvPr/>
        </p:nvSpPr>
        <p:spPr>
          <a:xfrm>
            <a:off x="642938" y="2393156"/>
            <a:ext cx="3571875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486581"/>
                </a:solidFill>
              </a:rPr>
              <a:t>独立申报“生理信号采集设备”。 
</a:t>
            </a:r>
            <a:r>
              <a:rPr lang="en-US" sz="1090" b="1" dirty="0">
                <a:solidFill>
                  <a:srgbClr val="486581"/>
                </a:solidFill>
              </a:rPr>
              <a:t>策略：</a:t>
            </a:r>
            <a:r>
              <a:rPr lang="en-US" sz="1159" dirty="0">
                <a:solidFill>
                  <a:srgbClr val="486581"/>
                </a:solidFill>
              </a:rPr>
              <a:t>快速拿证，抢占“全球首个无创驱动监测”定位。</a:t>
            </a:r>
            <a:endParaRPr lang="en-US" sz="1159" dirty="0"/>
          </a:p>
        </p:txBody>
      </p:sp>
      <p:sp>
        <p:nvSpPr>
          <p:cNvPr id="16" name="Shape 12"/>
          <p:cNvSpPr/>
          <p:nvPr/>
        </p:nvSpPr>
        <p:spPr>
          <a:xfrm>
            <a:off x="4714875" y="1341239"/>
            <a:ext cx="4000500" cy="18841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4714875" y="1341239"/>
            <a:ext cx="4000500" cy="5715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8" name="Shape 14"/>
          <p:cNvSpPr/>
          <p:nvPr/>
        </p:nvSpPr>
        <p:spPr>
          <a:xfrm>
            <a:off x="4929187" y="1584127"/>
            <a:ext cx="1166049" cy="308967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9" name="Text 15"/>
          <p:cNvSpPr/>
          <p:nvPr/>
        </p:nvSpPr>
        <p:spPr>
          <a:xfrm>
            <a:off x="4929187" y="1584127"/>
            <a:ext cx="1040291" cy="31701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Month 12-18</a:t>
            </a:r>
            <a:endParaRPr lang="en-US" sz="987" dirty="0"/>
          </a:p>
        </p:txBody>
      </p:sp>
      <p:sp>
        <p:nvSpPr>
          <p:cNvPr id="20" name="Shape 16"/>
          <p:cNvSpPr/>
          <p:nvPr/>
        </p:nvSpPr>
        <p:spPr>
          <a:xfrm>
            <a:off x="7677522" y="1608237"/>
            <a:ext cx="823540" cy="260747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1" name="Text 17"/>
          <p:cNvSpPr/>
          <p:nvPr/>
        </p:nvSpPr>
        <p:spPr>
          <a:xfrm>
            <a:off x="7677522" y="1608237"/>
            <a:ext cx="823540" cy="260747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27D98"/>
                </a:solidFill>
              </a:rPr>
              <a:t>Code: DQS</a:t>
            </a:r>
            <a:endParaRPr lang="en-US" sz="885" dirty="0"/>
          </a:p>
        </p:txBody>
      </p:sp>
      <p:sp>
        <p:nvSpPr>
          <p:cNvPr id="22" name="Text 18"/>
          <p:cNvSpPr/>
          <p:nvPr/>
        </p:nvSpPr>
        <p:spPr>
          <a:xfrm>
            <a:off x="4929188" y="2071688"/>
            <a:ext cx="35718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2A43"/>
                </a:solidFill>
              </a:rPr>
              <a:t>EIT 系统 + MyoBus</a:t>
            </a:r>
            <a:endParaRPr lang="en-US" sz="1602" dirty="0"/>
          </a:p>
        </p:txBody>
      </p:sp>
      <p:sp>
        <p:nvSpPr>
          <p:cNvPr id="23" name="Text 19"/>
          <p:cNvSpPr/>
          <p:nvPr/>
        </p:nvSpPr>
        <p:spPr>
          <a:xfrm>
            <a:off x="4929188" y="2511028"/>
            <a:ext cx="35718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486581"/>
                </a:solidFill>
              </a:rPr>
              <a:t>申报完整成像系统，MyoBus 定义为兼容协议。 
</a:t>
            </a:r>
            <a:r>
              <a:rPr lang="en-US" sz="1090" b="1" dirty="0">
                <a:solidFill>
                  <a:srgbClr val="486581"/>
                </a:solidFill>
              </a:rPr>
              <a:t>策略：</a:t>
            </a:r>
            <a:r>
              <a:rPr lang="en-US" sz="1159" dirty="0">
                <a:solidFill>
                  <a:srgbClr val="486581"/>
                </a:solidFill>
              </a:rPr>
              <a:t>规避“组合产品”审查，对标 Timpel。</a:t>
            </a:r>
            <a:endParaRPr lang="en-US" sz="1159" dirty="0"/>
          </a:p>
        </p:txBody>
      </p:sp>
      <p:sp>
        <p:nvSpPr>
          <p:cNvPr id="24" name="Shape 20"/>
          <p:cNvSpPr/>
          <p:nvPr/>
        </p:nvSpPr>
        <p:spPr>
          <a:xfrm>
            <a:off x="428625" y="3671888"/>
            <a:ext cx="8286750" cy="934045"/>
          </a:xfrm>
          <a:prstGeom prst="rect">
            <a:avLst/>
          </a:prstGeom>
          <a:solidFill>
            <a:srgbClr val="E6FFFA"/>
          </a:solidFill>
          <a:ln w="18288">
            <a:solidFill>
              <a:srgbClr val="38B2A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07219" y="3864769"/>
            <a:ext cx="792956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85E61"/>
                </a:solidFill>
              </a:rPr>
              <a:t>核心策略：模块化准入 (Modular Approval)</a:t>
            </a:r>
            <a:endParaRPr lang="en-US" sz="1193" dirty="0"/>
          </a:p>
        </p:txBody>
      </p:sp>
      <p:sp>
        <p:nvSpPr>
          <p:cNvPr id="26" name="Text 22"/>
          <p:cNvSpPr/>
          <p:nvPr/>
        </p:nvSpPr>
        <p:spPr>
          <a:xfrm>
            <a:off x="607219" y="4186238"/>
            <a:ext cx="79295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2C7A7B"/>
                </a:solidFill>
              </a:rPr>
              <a:t>先单体，后集成；先低风险，后复杂系统。确保路径清晰可控。</a:t>
            </a:r>
            <a:endParaRPr lang="en-US" sz="1159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5" name="Text 1"/>
          <p:cNvSpPr/>
          <p:nvPr/>
        </p:nvSpPr>
        <p:spPr>
          <a:xfrm>
            <a:off x="428625" y="139303"/>
            <a:ext cx="3983617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资金规划：IP 买断与合规推进</a:t>
            </a:r>
            <a:endParaRPr lang="en-US" sz="2121" dirty="0"/>
          </a:p>
        </p:txBody>
      </p:sp>
      <p:sp>
        <p:nvSpPr>
          <p:cNvPr id="6" name="Shape 2"/>
          <p:cNvSpPr/>
          <p:nvPr/>
        </p:nvSpPr>
        <p:spPr>
          <a:xfrm>
            <a:off x="7665662" y="212527"/>
            <a:ext cx="1049713" cy="289322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7" name="Text 3"/>
          <p:cNvSpPr/>
          <p:nvPr/>
        </p:nvSpPr>
        <p:spPr>
          <a:xfrm>
            <a:off x="7665662" y="212527"/>
            <a:ext cx="1049713" cy="289322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FINANCIALS</a:t>
            </a:r>
            <a:endParaRPr lang="en-US" sz="885" dirty="0"/>
          </a:p>
        </p:txBody>
      </p:sp>
      <p:sp>
        <p:nvSpPr>
          <p:cNvPr id="8" name="Shape 4"/>
          <p:cNvSpPr/>
          <p:nvPr/>
        </p:nvSpPr>
        <p:spPr>
          <a:xfrm>
            <a:off x="1071563" y="1964531"/>
            <a:ext cx="1928813" cy="1928813"/>
          </a:xfrm>
          <a:prstGeom prst="ellipse">
            <a:avLst/>
          </a:prstGeom>
          <a:solidFill>
            <a:srgbClr val="F2F4F8"/>
          </a:solidFill>
          <a:ln/>
        </p:spPr>
      </p:sp>
      <p:sp>
        <p:nvSpPr>
          <p:cNvPr id="9" name="Text 5"/>
          <p:cNvSpPr/>
          <p:nvPr/>
        </p:nvSpPr>
        <p:spPr>
          <a:xfrm>
            <a:off x="1677358" y="2578894"/>
            <a:ext cx="71719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86581"/>
                </a:solidFill>
              </a:rPr>
              <a:t>Total Ask</a:t>
            </a:r>
            <a:endParaRPr lang="en-US" sz="1269" dirty="0"/>
          </a:p>
        </p:txBody>
      </p:sp>
      <p:sp>
        <p:nvSpPr>
          <p:cNvPr id="10" name="Text 6"/>
          <p:cNvSpPr/>
          <p:nvPr/>
        </p:nvSpPr>
        <p:spPr>
          <a:xfrm>
            <a:off x="1249696" y="2812852"/>
            <a:ext cx="1572546" cy="410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</a:rPr>
              <a:t>$5.0M(40%)</a:t>
            </a:r>
            <a:endParaRPr lang="en-US" sz="2436" dirty="0"/>
          </a:p>
        </p:txBody>
      </p:sp>
      <p:sp>
        <p:nvSpPr>
          <p:cNvPr id="11" name="Shape 7"/>
          <p:cNvSpPr/>
          <p:nvPr/>
        </p:nvSpPr>
        <p:spPr>
          <a:xfrm>
            <a:off x="4071937" y="1033166"/>
            <a:ext cx="4643438" cy="8179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4071937" y="1033166"/>
            <a:ext cx="71438" cy="817959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3" name="Text 9"/>
          <p:cNvSpPr/>
          <p:nvPr/>
        </p:nvSpPr>
        <p:spPr>
          <a:xfrm>
            <a:off x="4250530" y="1176041"/>
            <a:ext cx="125557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2A43"/>
                </a:solidFill>
              </a:rPr>
              <a:t>IP 买断与重构</a:t>
            </a:r>
            <a:endParaRPr lang="en-US" sz="1397" dirty="0"/>
          </a:p>
        </p:txBody>
      </p:sp>
      <p:sp>
        <p:nvSpPr>
          <p:cNvPr id="14" name="Text 10"/>
          <p:cNvSpPr/>
          <p:nvPr/>
        </p:nvSpPr>
        <p:spPr>
          <a:xfrm>
            <a:off x="8127717" y="1184077"/>
            <a:ext cx="40906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D32F2F"/>
                </a:solidFill>
              </a:rPr>
              <a:t>40%</a:t>
            </a:r>
            <a:endParaRPr lang="en-US" sz="1397" dirty="0"/>
          </a:p>
        </p:txBody>
      </p:sp>
      <p:sp>
        <p:nvSpPr>
          <p:cNvPr id="15" name="Text 11"/>
          <p:cNvSpPr/>
          <p:nvPr/>
        </p:nvSpPr>
        <p:spPr>
          <a:xfrm>
            <a:off x="4250530" y="1501081"/>
            <a:ext cx="4286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86581"/>
                </a:solidFill>
              </a:rPr>
              <a:t>确立 B 公司全球所有权，构建专利壁垒。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071937" y="2029719"/>
            <a:ext cx="4643438" cy="8179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4071937" y="2029719"/>
            <a:ext cx="71438" cy="817959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8" name="Text 14"/>
          <p:cNvSpPr/>
          <p:nvPr/>
        </p:nvSpPr>
        <p:spPr>
          <a:xfrm>
            <a:off x="4250530" y="2172594"/>
            <a:ext cx="144398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2A43"/>
                </a:solidFill>
              </a:rPr>
              <a:t>FDA 申报与测试</a:t>
            </a:r>
            <a:endParaRPr lang="en-US" sz="1397" dirty="0"/>
          </a:p>
        </p:txBody>
      </p:sp>
      <p:sp>
        <p:nvSpPr>
          <p:cNvPr id="19" name="Text 15"/>
          <p:cNvSpPr/>
          <p:nvPr/>
        </p:nvSpPr>
        <p:spPr>
          <a:xfrm>
            <a:off x="8127717" y="2180631"/>
            <a:ext cx="40906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2AC"/>
                </a:solidFill>
              </a:rPr>
              <a:t>30%</a:t>
            </a:r>
            <a:endParaRPr lang="en-US" sz="1397" dirty="0"/>
          </a:p>
        </p:txBody>
      </p:sp>
      <p:sp>
        <p:nvSpPr>
          <p:cNvPr id="20" name="Text 16"/>
          <p:cNvSpPr/>
          <p:nvPr/>
        </p:nvSpPr>
        <p:spPr>
          <a:xfrm>
            <a:off x="4250530" y="2497634"/>
            <a:ext cx="4286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86581"/>
                </a:solidFill>
              </a:rPr>
              <a:t>510(k) 官费、无线共存性测试、网络安全审计。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071937" y="3026272"/>
            <a:ext cx="4643438" cy="8179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8"/>
          <p:cNvSpPr/>
          <p:nvPr/>
        </p:nvSpPr>
        <p:spPr>
          <a:xfrm>
            <a:off x="4071937" y="3026272"/>
            <a:ext cx="71438" cy="817959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23" name="Text 19"/>
          <p:cNvSpPr/>
          <p:nvPr/>
        </p:nvSpPr>
        <p:spPr>
          <a:xfrm>
            <a:off x="4250530" y="3169147"/>
            <a:ext cx="140017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2A43"/>
                </a:solidFill>
              </a:rPr>
              <a:t>美国运营与预热</a:t>
            </a:r>
            <a:endParaRPr lang="en-US" sz="1397" dirty="0"/>
          </a:p>
        </p:txBody>
      </p:sp>
      <p:sp>
        <p:nvSpPr>
          <p:cNvPr id="24" name="Text 20"/>
          <p:cNvSpPr/>
          <p:nvPr/>
        </p:nvSpPr>
        <p:spPr>
          <a:xfrm>
            <a:off x="8127717" y="3177184"/>
            <a:ext cx="40906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D69E2E"/>
                </a:solidFill>
              </a:rPr>
              <a:t>20%</a:t>
            </a:r>
            <a:endParaRPr lang="en-US" sz="1397" dirty="0"/>
          </a:p>
        </p:txBody>
      </p:sp>
      <p:sp>
        <p:nvSpPr>
          <p:cNvPr id="25" name="Text 21"/>
          <p:cNvSpPr/>
          <p:nvPr/>
        </p:nvSpPr>
        <p:spPr>
          <a:xfrm>
            <a:off x="4250530" y="3494188"/>
            <a:ext cx="4286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86581"/>
                </a:solidFill>
              </a:rPr>
              <a:t>建立 KOL 专家库，参与顶级学术会议。</a:t>
            </a:r>
            <a:endParaRPr lang="en-US" sz="1050" dirty="0"/>
          </a:p>
        </p:txBody>
      </p:sp>
      <p:sp>
        <p:nvSpPr>
          <p:cNvPr id="27" name="Shape 17"/>
          <p:cNvSpPr/>
          <p:nvPr/>
        </p:nvSpPr>
        <p:spPr>
          <a:xfrm>
            <a:off x="4071937" y="4064180"/>
            <a:ext cx="4643438" cy="8179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18"/>
          <p:cNvSpPr/>
          <p:nvPr/>
        </p:nvSpPr>
        <p:spPr>
          <a:xfrm>
            <a:off x="4071937" y="4064180"/>
            <a:ext cx="71438" cy="817959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9" name="Text 19"/>
          <p:cNvSpPr/>
          <p:nvPr/>
        </p:nvSpPr>
        <p:spPr>
          <a:xfrm>
            <a:off x="4250530" y="4207055"/>
            <a:ext cx="1436291" cy="243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altLang="zh-CN" sz="1397" b="1" dirty="0" err="1">
                <a:solidFill>
                  <a:srgbClr val="102A43"/>
                </a:solidFill>
              </a:rPr>
              <a:t>供应链和首批生产</a:t>
            </a:r>
            <a:endParaRPr lang="en-US" sz="1397" b="1" dirty="0">
              <a:solidFill>
                <a:srgbClr val="102A43"/>
              </a:solidFill>
            </a:endParaRPr>
          </a:p>
        </p:txBody>
      </p:sp>
      <p:sp>
        <p:nvSpPr>
          <p:cNvPr id="30" name="Text 20"/>
          <p:cNvSpPr/>
          <p:nvPr/>
        </p:nvSpPr>
        <p:spPr>
          <a:xfrm>
            <a:off x="8127717" y="4215092"/>
            <a:ext cx="312586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70C0"/>
                </a:solidFill>
              </a:rPr>
              <a:t>10%</a:t>
            </a:r>
            <a:endParaRPr lang="en-US" sz="1397" dirty="0">
              <a:solidFill>
                <a:srgbClr val="0070C0"/>
              </a:solidFill>
            </a:endParaRPr>
          </a:p>
        </p:txBody>
      </p:sp>
      <p:sp>
        <p:nvSpPr>
          <p:cNvPr id="31" name="Text 21"/>
          <p:cNvSpPr/>
          <p:nvPr/>
        </p:nvSpPr>
        <p:spPr>
          <a:xfrm>
            <a:off x="4250530" y="4532096"/>
            <a:ext cx="1346522" cy="1704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zh-CN" altLang="en-US" sz="1050" dirty="0">
                <a:solidFill>
                  <a:srgbClr val="486581"/>
                </a:solidFill>
              </a:rPr>
              <a:t>样机生产，供应链优化</a:t>
            </a:r>
            <a:endParaRPr lang="en-US" sz="1050" dirty="0">
              <a:solidFill>
                <a:srgbClr val="48658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5" name="Text 1"/>
          <p:cNvSpPr/>
          <p:nvPr/>
        </p:nvSpPr>
        <p:spPr>
          <a:xfrm>
            <a:off x="428625" y="139303"/>
            <a:ext cx="36004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首期融资计划：低风险启动</a:t>
            </a:r>
            <a:endParaRPr lang="en-US" sz="2121" dirty="0"/>
          </a:p>
        </p:txBody>
      </p:sp>
      <p:sp>
        <p:nvSpPr>
          <p:cNvPr id="6" name="Shape 2"/>
          <p:cNvSpPr/>
          <p:nvPr/>
        </p:nvSpPr>
        <p:spPr>
          <a:xfrm>
            <a:off x="7917061" y="212527"/>
            <a:ext cx="798314" cy="289322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7" name="Text 3"/>
          <p:cNvSpPr/>
          <p:nvPr/>
        </p:nvSpPr>
        <p:spPr>
          <a:xfrm>
            <a:off x="7917061" y="212527"/>
            <a:ext cx="798314" cy="289322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PHASE 1</a:t>
            </a:r>
            <a:endParaRPr lang="en-US" sz="885" dirty="0"/>
          </a:p>
        </p:txBody>
      </p:sp>
      <p:sp>
        <p:nvSpPr>
          <p:cNvPr id="8" name="Shape 4"/>
          <p:cNvSpPr/>
          <p:nvPr/>
        </p:nvSpPr>
        <p:spPr>
          <a:xfrm>
            <a:off x="428625" y="1321594"/>
            <a:ext cx="2857500" cy="3214688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9" name="Text 5"/>
          <p:cNvSpPr/>
          <p:nvPr/>
        </p:nvSpPr>
        <p:spPr>
          <a:xfrm>
            <a:off x="714375" y="2175272"/>
            <a:ext cx="228600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6" dirty="0">
                <a:solidFill>
                  <a:srgbClr val="BCCCDC"/>
                </a:solidFill>
              </a:rPr>
              <a:t>Seeking</a:t>
            </a:r>
            <a:endParaRPr lang="en-US" sz="1486" dirty="0"/>
          </a:p>
        </p:txBody>
      </p:sp>
      <p:sp>
        <p:nvSpPr>
          <p:cNvPr id="10" name="Text 6"/>
          <p:cNvSpPr/>
          <p:nvPr/>
        </p:nvSpPr>
        <p:spPr>
          <a:xfrm>
            <a:off x="521272" y="2591395"/>
            <a:ext cx="2672206" cy="5770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38B2AC"/>
                </a:solidFill>
              </a:rPr>
              <a:t>$2.0M(20%)</a:t>
            </a:r>
            <a:endParaRPr lang="en-US" sz="4145" dirty="0"/>
          </a:p>
        </p:txBody>
      </p:sp>
      <p:sp>
        <p:nvSpPr>
          <p:cNvPr id="11" name="Shape 7"/>
          <p:cNvSpPr/>
          <p:nvPr/>
        </p:nvSpPr>
        <p:spPr>
          <a:xfrm>
            <a:off x="714375" y="3305770"/>
            <a:ext cx="2286000" cy="376833"/>
          </a:xfrm>
          <a:prstGeom prst="round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714375" y="3305770"/>
            <a:ext cx="2286000" cy="376833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Seed Round</a:t>
            </a:r>
            <a:endParaRPr lang="en-US" sz="1269" dirty="0"/>
          </a:p>
        </p:txBody>
      </p:sp>
      <p:sp>
        <p:nvSpPr>
          <p:cNvPr id="13" name="Shape 9"/>
          <p:cNvSpPr/>
          <p:nvPr/>
        </p:nvSpPr>
        <p:spPr>
          <a:xfrm>
            <a:off x="3714750" y="1566666"/>
            <a:ext cx="5000625" cy="8979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3714750" y="1539478"/>
            <a:ext cx="69035" cy="909041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5" name="Shape 11"/>
          <p:cNvSpPr/>
          <p:nvPr/>
        </p:nvSpPr>
        <p:spPr>
          <a:xfrm>
            <a:off x="3929063" y="1785938"/>
            <a:ext cx="571500" cy="571500"/>
          </a:xfrm>
          <a:prstGeom prst="ellipse">
            <a:avLst/>
          </a:prstGeom>
          <a:solidFill>
            <a:srgbClr val="FFF5F5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8372" y="1943100"/>
            <a:ext cx="192881" cy="2571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14875" y="1754684"/>
            <a:ext cx="37861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2A43"/>
                </a:solidFill>
              </a:rPr>
              <a:t>IP Acquisition (sEMG)</a:t>
            </a:r>
            <a:endParaRPr lang="en-US" sz="1602" dirty="0"/>
          </a:p>
        </p:txBody>
      </p:sp>
      <p:sp>
        <p:nvSpPr>
          <p:cNvPr id="18" name="Text 13"/>
          <p:cNvSpPr/>
          <p:nvPr/>
        </p:nvSpPr>
        <p:spPr>
          <a:xfrm>
            <a:off x="4714875" y="2138660"/>
            <a:ext cx="3855223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 err="1">
                <a:solidFill>
                  <a:srgbClr val="486581"/>
                </a:solidFill>
              </a:rPr>
              <a:t>买断核心神经驱动技术</a:t>
            </a:r>
            <a:r>
              <a:rPr lang="en-US" altLang="zh-CN" sz="1269" dirty="0" err="1">
                <a:solidFill>
                  <a:srgbClr val="486581"/>
                </a:solidFill>
              </a:rPr>
              <a:t>sEMG</a:t>
            </a:r>
            <a:r>
              <a:rPr lang="en-US" sz="1269" dirty="0" err="1">
                <a:solidFill>
                  <a:srgbClr val="486581"/>
                </a:solidFill>
              </a:rPr>
              <a:t>，确立全球独家所有权</a:t>
            </a:r>
            <a:r>
              <a:rPr lang="en-US" sz="1269" dirty="0">
                <a:solidFill>
                  <a:srgbClr val="486581"/>
                </a:solidFill>
              </a:rPr>
              <a:t>。</a:t>
            </a:r>
            <a:endParaRPr lang="en-US" sz="1269" dirty="0"/>
          </a:p>
        </p:txBody>
      </p:sp>
      <p:sp>
        <p:nvSpPr>
          <p:cNvPr id="19" name="Shape 14"/>
          <p:cNvSpPr/>
          <p:nvPr/>
        </p:nvSpPr>
        <p:spPr>
          <a:xfrm>
            <a:off x="3714750" y="3335438"/>
            <a:ext cx="5000625" cy="9722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3714750" y="3308250"/>
            <a:ext cx="71438" cy="972244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1" name="Shape 16"/>
          <p:cNvSpPr/>
          <p:nvPr/>
        </p:nvSpPr>
        <p:spPr>
          <a:xfrm>
            <a:off x="3929063" y="3500438"/>
            <a:ext cx="571500" cy="571500"/>
          </a:xfrm>
          <a:prstGeom prst="ellipse">
            <a:avLst/>
          </a:prstGeom>
          <a:solidFill>
            <a:srgbClr val="E6FFFA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6225" y="3657600"/>
            <a:ext cx="257175" cy="2571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14875" y="3469184"/>
            <a:ext cx="37861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2A43"/>
                </a:solidFill>
              </a:rPr>
              <a:t>FDA 510(k) (sEMG)</a:t>
            </a:r>
            <a:endParaRPr lang="en-US" sz="1602" dirty="0"/>
          </a:p>
        </p:txBody>
      </p:sp>
      <p:sp>
        <p:nvSpPr>
          <p:cNvPr id="24" name="Text 18"/>
          <p:cNvSpPr/>
          <p:nvPr/>
        </p:nvSpPr>
        <p:spPr>
          <a:xfrm>
            <a:off x="4714875" y="3853160"/>
            <a:ext cx="2861361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486581"/>
                </a:solidFill>
              </a:rPr>
              <a:t>完成独立模块认证，6个月内获批上市。</a:t>
            </a:r>
            <a:endParaRPr lang="en-US" sz="1269" dirty="0"/>
          </a:p>
        </p:txBody>
      </p:sp>
      <p:sp>
        <p:nvSpPr>
          <p:cNvPr id="25" name="Shape 1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E6FFFA"/>
          </a:solidFill>
          <a:ln/>
        </p:spPr>
      </p:sp>
      <p:sp>
        <p:nvSpPr>
          <p:cNvPr id="26" name="Shape 20"/>
          <p:cNvSpPr/>
          <p:nvPr/>
        </p:nvSpPr>
        <p:spPr>
          <a:xfrm>
            <a:off x="0" y="4572000"/>
            <a:ext cx="9144000" cy="14288"/>
          </a:xfrm>
          <a:prstGeom prst="rect">
            <a:avLst/>
          </a:prstGeom>
          <a:solidFill>
            <a:srgbClr val="38B2AC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639" y="4772025"/>
            <a:ext cx="171450" cy="1714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619245" y="4732734"/>
            <a:ext cx="3579506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34E52"/>
                </a:solidFill>
              </a:rPr>
              <a:t>目标：6个月内实现资产确权与合规落地，估值翻倍。</a:t>
            </a:r>
            <a:endParaRPr lang="en-US" sz="1193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B0B6B949-3EA0-3ED7-20AA-C5BD18DDBB7D}"/>
              </a:ext>
            </a:extLst>
          </p:cNvPr>
          <p:cNvSpPr/>
          <p:nvPr/>
        </p:nvSpPr>
        <p:spPr>
          <a:xfrm>
            <a:off x="3786188" y="2426396"/>
            <a:ext cx="4912875" cy="8979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EA7E8FB2-4A98-F7AA-D1B7-28B357AD4F2C}"/>
              </a:ext>
            </a:extLst>
          </p:cNvPr>
          <p:cNvSpPr/>
          <p:nvPr/>
        </p:nvSpPr>
        <p:spPr>
          <a:xfrm>
            <a:off x="3698438" y="2416360"/>
            <a:ext cx="5000625" cy="8979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3677A357-F136-1D47-F50A-FCADA619AC45}"/>
              </a:ext>
            </a:extLst>
          </p:cNvPr>
          <p:cNvSpPr/>
          <p:nvPr/>
        </p:nvSpPr>
        <p:spPr>
          <a:xfrm>
            <a:off x="3715698" y="2423798"/>
            <a:ext cx="69035" cy="893086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EB6AC105-73FC-9809-E939-EE821CF7DB2A}"/>
              </a:ext>
            </a:extLst>
          </p:cNvPr>
          <p:cNvSpPr/>
          <p:nvPr/>
        </p:nvSpPr>
        <p:spPr>
          <a:xfrm>
            <a:off x="3912751" y="2635632"/>
            <a:ext cx="571500" cy="571500"/>
          </a:xfrm>
          <a:prstGeom prst="ellipse">
            <a:avLst/>
          </a:prstGeom>
          <a:solidFill>
            <a:srgbClr val="FFF5F5"/>
          </a:solidFill>
          <a:ln/>
        </p:spPr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3720B127-9250-2CE0-2C6D-D5020A9E1D73}"/>
              </a:ext>
            </a:extLst>
          </p:cNvPr>
          <p:cNvSpPr/>
          <p:nvPr/>
        </p:nvSpPr>
        <p:spPr>
          <a:xfrm>
            <a:off x="4698563" y="2604378"/>
            <a:ext cx="1641475" cy="2663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zh-CN" altLang="en-US" sz="1602" b="1" dirty="0">
                <a:solidFill>
                  <a:srgbClr val="102A43"/>
                </a:solidFill>
              </a:rPr>
              <a:t>建立美国本土研发</a:t>
            </a:r>
            <a:endParaRPr lang="en-US" sz="1602" dirty="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70EA40C6-9395-6DF4-866A-3DE4AA9B6F42}"/>
              </a:ext>
            </a:extLst>
          </p:cNvPr>
          <p:cNvSpPr/>
          <p:nvPr/>
        </p:nvSpPr>
        <p:spPr>
          <a:xfrm>
            <a:off x="4698563" y="2988354"/>
            <a:ext cx="3864071" cy="4024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zh-CN" altLang="en-US" sz="1269" dirty="0"/>
              <a:t>在美国建立研发中心，完善研发记录和符合</a:t>
            </a:r>
            <a:r>
              <a:rPr lang="en-US" altLang="zh-CN" sz="1269" dirty="0"/>
              <a:t>FDA</a:t>
            </a:r>
            <a:r>
              <a:rPr lang="zh-CN" altLang="en-US" sz="1269" dirty="0"/>
              <a:t>要求的</a:t>
            </a:r>
            <a:endParaRPr lang="en-US" altLang="zh-CN" sz="1269" dirty="0"/>
          </a:p>
          <a:p>
            <a:pPr marL="0" indent="0" algn="l">
              <a:lnSpc>
                <a:spcPts val="1600"/>
              </a:lnSpc>
              <a:buNone/>
            </a:pPr>
            <a:r>
              <a:rPr lang="zh-CN" altLang="en-US" sz="1269" dirty="0"/>
              <a:t>医疗器械质量体系</a:t>
            </a:r>
            <a:endParaRPr lang="en-US" sz="1269" dirty="0"/>
          </a:p>
        </p:txBody>
      </p:sp>
      <p:pic>
        <p:nvPicPr>
          <p:cNvPr id="37" name="Image 1" descr="preencoded.png">
            <a:extLst>
              <a:ext uri="{FF2B5EF4-FFF2-40B4-BE49-F238E27FC236}">
                <a16:creationId xmlns:a16="http://schemas.microsoft.com/office/drawing/2014/main" id="{E032AD20-B24F-DCAA-D80E-71E98EED4F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8278" y="2767425"/>
            <a:ext cx="306768" cy="30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125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5" name="Text 1"/>
          <p:cNvSpPr/>
          <p:nvPr/>
        </p:nvSpPr>
        <p:spPr>
          <a:xfrm>
            <a:off x="428625" y="139303"/>
            <a:ext cx="36004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退出路径：巨头的并购首选</a:t>
            </a:r>
            <a:endParaRPr lang="en-US" sz="2121" dirty="0"/>
          </a:p>
        </p:txBody>
      </p:sp>
      <p:sp>
        <p:nvSpPr>
          <p:cNvPr id="6" name="Shape 2"/>
          <p:cNvSpPr/>
          <p:nvPr/>
        </p:nvSpPr>
        <p:spPr>
          <a:xfrm>
            <a:off x="7501607" y="212527"/>
            <a:ext cx="1213768" cy="289322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7" name="Text 3"/>
          <p:cNvSpPr/>
          <p:nvPr/>
        </p:nvSpPr>
        <p:spPr>
          <a:xfrm>
            <a:off x="7501607" y="212527"/>
            <a:ext cx="1213768" cy="289322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EXIT STRATEGY</a:t>
            </a:r>
            <a:endParaRPr lang="en-US" sz="885" dirty="0"/>
          </a:p>
        </p:txBody>
      </p:sp>
      <p:sp>
        <p:nvSpPr>
          <p:cNvPr id="8" name="Shape 4"/>
          <p:cNvSpPr/>
          <p:nvPr/>
        </p:nvSpPr>
        <p:spPr>
          <a:xfrm>
            <a:off x="428625" y="1000125"/>
            <a:ext cx="8286750" cy="6072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5"/>
          <p:cNvSpPr/>
          <p:nvPr/>
        </p:nvSpPr>
        <p:spPr>
          <a:xfrm>
            <a:off x="428625" y="1000125"/>
            <a:ext cx="57150" cy="607219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0" name="Text 6"/>
          <p:cNvSpPr/>
          <p:nvPr/>
        </p:nvSpPr>
        <p:spPr>
          <a:xfrm>
            <a:off x="428625" y="1000125"/>
            <a:ext cx="8286750" cy="607219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86581"/>
                </a:solidFill>
              </a:rPr>
              <a:t>并购逻辑：</a:t>
            </a:r>
            <a:r>
              <a:rPr lang="en-US" sz="1269" dirty="0">
                <a:solidFill>
                  <a:srgbClr val="486581"/>
                </a:solidFill>
              </a:rPr>
              <a:t> 巨头拥有全球渠道，但缺乏“通气 + 灌注 + 神经”的三位一体闭环技术。</a:t>
            </a:r>
            <a:endParaRPr lang="en-US" sz="1193" dirty="0"/>
          </a:p>
        </p:txBody>
      </p:sp>
      <p:sp>
        <p:nvSpPr>
          <p:cNvPr id="11" name="Shape 7"/>
          <p:cNvSpPr/>
          <p:nvPr/>
        </p:nvSpPr>
        <p:spPr>
          <a:xfrm>
            <a:off x="428625" y="1893094"/>
            <a:ext cx="2619384" cy="131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343276" y="2107406"/>
            <a:ext cx="79005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696"/>
                </a:solidFill>
              </a:rPr>
              <a:t>Dräger</a:t>
            </a:r>
            <a:endParaRPr lang="en-US" sz="1602" dirty="0"/>
          </a:p>
        </p:txBody>
      </p:sp>
      <p:sp>
        <p:nvSpPr>
          <p:cNvPr id="13" name="Text 9"/>
          <p:cNvSpPr/>
          <p:nvPr/>
        </p:nvSpPr>
        <p:spPr>
          <a:xfrm>
            <a:off x="642938" y="2598539"/>
            <a:ext cx="219075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627D98"/>
                </a:solidFill>
              </a:rPr>
              <a:t>呼吸机霸主，急需 EIT 补全肺保护拼图。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62322" y="1893094"/>
            <a:ext cx="2619384" cy="131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>
            <a:off x="3867608" y="2122610"/>
            <a:ext cx="1485598" cy="282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altLang="zh-CN" sz="1602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Getinge</a:t>
            </a:r>
            <a:r>
              <a:rPr lang="zh-CN" altLang="en-US" sz="1602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（捷迈</a:t>
            </a:r>
            <a:r>
              <a:rPr lang="zh-CN" altLang="en-US" sz="1600" dirty="0"/>
              <a:t>）</a:t>
            </a:r>
          </a:p>
        </p:txBody>
      </p:sp>
      <p:sp>
        <p:nvSpPr>
          <p:cNvPr id="16" name="Text 12"/>
          <p:cNvSpPr/>
          <p:nvPr/>
        </p:nvSpPr>
        <p:spPr>
          <a:xfrm>
            <a:off x="3476634" y="2598539"/>
            <a:ext cx="219075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627D98"/>
                </a:solidFill>
              </a:rPr>
              <a:t>拥有 NAVA，但缺乏无创和成像技术。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96019" y="1893094"/>
            <a:ext cx="2619384" cy="131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6931921" y="2107406"/>
            <a:ext cx="94755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30613"/>
                </a:solidFill>
              </a:rPr>
              <a:t>Mindray</a:t>
            </a:r>
            <a:endParaRPr lang="en-US" sz="1602" dirty="0"/>
          </a:p>
        </p:txBody>
      </p:sp>
      <p:sp>
        <p:nvSpPr>
          <p:cNvPr id="19" name="Text 15"/>
          <p:cNvSpPr/>
          <p:nvPr/>
        </p:nvSpPr>
        <p:spPr>
          <a:xfrm>
            <a:off x="6334134" y="2598539"/>
            <a:ext cx="21431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627D98"/>
                </a:solidFill>
              </a:rPr>
              <a:t>正在全球大举并购高端监护技术。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28625" y="3598664"/>
            <a:ext cx="8286750" cy="1259086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21" name="Text 17"/>
          <p:cNvSpPr/>
          <p:nvPr/>
        </p:nvSpPr>
        <p:spPr>
          <a:xfrm>
            <a:off x="642938" y="3842445"/>
            <a:ext cx="377904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BCCCDC"/>
                </a:solidFill>
              </a:rPr>
              <a:t>Competitor Benchmark (Timpel)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42938" y="4072830"/>
            <a:ext cx="3779044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Est. $20M - $40M</a:t>
            </a:r>
            <a:endParaRPr lang="en-US" sz="1808" dirty="0"/>
          </a:p>
        </p:txBody>
      </p:sp>
      <p:sp>
        <p:nvSpPr>
          <p:cNvPr id="23" name="Text 19"/>
          <p:cNvSpPr/>
          <p:nvPr/>
        </p:nvSpPr>
        <p:spPr>
          <a:xfrm>
            <a:off x="642938" y="4458593"/>
            <a:ext cx="37790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829AB1"/>
                </a:solidFill>
              </a:rPr>
              <a:t>Ref: Sentec/Swisstom Deal</a:t>
            </a:r>
            <a:endParaRPr lang="en-US" sz="834" dirty="0"/>
          </a:p>
        </p:txBody>
      </p:sp>
      <p:sp>
        <p:nvSpPr>
          <p:cNvPr id="24" name="Text 20"/>
          <p:cNvSpPr/>
          <p:nvPr/>
        </p:nvSpPr>
        <p:spPr>
          <a:xfrm>
            <a:off x="4722019" y="3812977"/>
            <a:ext cx="377904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BCCCDC"/>
                </a:solidFill>
              </a:rPr>
              <a:t>Our Potential Value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024329" y="4043363"/>
            <a:ext cx="1174424" cy="359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>
                <a:solidFill>
                  <a:srgbClr val="38B2AC"/>
                </a:solidFill>
              </a:rPr>
              <a:t>4-8x </a:t>
            </a:r>
            <a:r>
              <a:rPr lang="en-US" sz="2121" b="1" dirty="0">
                <a:solidFill>
                  <a:srgbClr val="38B2AC"/>
                </a:solidFill>
              </a:rPr>
              <a:t>Value</a:t>
            </a:r>
            <a:endParaRPr lang="en-US" sz="2121" dirty="0"/>
          </a:p>
        </p:txBody>
      </p:sp>
      <p:sp>
        <p:nvSpPr>
          <p:cNvPr id="26" name="Text 22"/>
          <p:cNvSpPr/>
          <p:nvPr/>
        </p:nvSpPr>
        <p:spPr>
          <a:xfrm>
            <a:off x="4722019" y="4488061"/>
            <a:ext cx="37790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829AB1"/>
                </a:solidFill>
              </a:rPr>
              <a:t>Due to 3-in-1 Platform</a:t>
            </a:r>
            <a:endParaRPr lang="en-US" sz="83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655871" y="1027640"/>
            <a:ext cx="6175130" cy="89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“我们定义的不仅仅是一个硬件，
 而是 ICU 呼吸监护的</a:t>
            </a:r>
            <a:r>
              <a:rPr lang="en-US" sz="2436" b="1" dirty="0">
                <a:solidFill>
                  <a:srgbClr val="38B2AC"/>
                </a:solidFill>
              </a:rPr>
              <a:t>‘操作系统’</a:t>
            </a:r>
            <a:r>
              <a:rPr lang="en-US" sz="2436" b="1" dirty="0">
                <a:solidFill>
                  <a:srgbClr val="FFFFFF"/>
                </a:solidFill>
              </a:rPr>
              <a:t>。”</a:t>
            </a:r>
            <a:endParaRPr lang="en-US" sz="2436" dirty="0"/>
          </a:p>
        </p:txBody>
      </p:sp>
      <p:sp>
        <p:nvSpPr>
          <p:cNvPr id="6" name="Shape 1"/>
          <p:cNvSpPr/>
          <p:nvPr/>
        </p:nvSpPr>
        <p:spPr>
          <a:xfrm>
            <a:off x="1312971" y="2633532"/>
            <a:ext cx="1816410" cy="478631"/>
          </a:xfrm>
          <a:prstGeom prst="round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427" y="2787123"/>
            <a:ext cx="171450" cy="1714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813034" y="2747832"/>
            <a:ext cx="109489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2AC"/>
                </a:solidFill>
              </a:rPr>
              <a:t>精准 (Precise)</a:t>
            </a:r>
            <a:endParaRPr lang="en-US" sz="1193" dirty="0"/>
          </a:p>
        </p:txBody>
      </p:sp>
      <p:sp>
        <p:nvSpPr>
          <p:cNvPr id="9" name="Shape 3"/>
          <p:cNvSpPr/>
          <p:nvPr/>
        </p:nvSpPr>
        <p:spPr>
          <a:xfrm>
            <a:off x="3336550" y="2633532"/>
            <a:ext cx="2070488" cy="478631"/>
          </a:xfrm>
          <a:prstGeom prst="round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006" y="2787123"/>
            <a:ext cx="171450" cy="17145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3836612" y="2747832"/>
            <a:ext cx="1348969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2AC"/>
                </a:solidFill>
              </a:rPr>
              <a:t>保护 (Protective)</a:t>
            </a:r>
            <a:endParaRPr lang="en-US" sz="1193" dirty="0"/>
          </a:p>
        </p:txBody>
      </p:sp>
      <p:sp>
        <p:nvSpPr>
          <p:cNvPr id="12" name="Shape 5"/>
          <p:cNvSpPr/>
          <p:nvPr/>
        </p:nvSpPr>
        <p:spPr>
          <a:xfrm>
            <a:off x="5614206" y="2633532"/>
            <a:ext cx="2202507" cy="478631"/>
          </a:xfrm>
          <a:prstGeom prst="round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5662" y="2787123"/>
            <a:ext cx="214313" cy="17145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157131" y="2747832"/>
            <a:ext cx="1438126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2AC"/>
                </a:solidFill>
              </a:rPr>
              <a:t>全链路 (Full-Loop)</a:t>
            </a:r>
            <a:endParaRPr lang="en-US" sz="1193" dirty="0"/>
          </a:p>
        </p:txBody>
      </p:sp>
      <p:sp>
        <p:nvSpPr>
          <p:cNvPr id="15" name="Text 7"/>
          <p:cNvSpPr/>
          <p:nvPr/>
        </p:nvSpPr>
        <p:spPr>
          <a:xfrm>
            <a:off x="1334402" y="3819395"/>
            <a:ext cx="6475168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邀请您共同开启呼吸监护的新纪元</a:t>
            </a:r>
            <a:endParaRPr lang="en-US" sz="148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</TotalTime>
  <Words>2559</Words>
  <Application>Microsoft Office PowerPoint</Application>
  <PresentationFormat>On-screen Show (16:9)</PresentationFormat>
  <Paragraphs>285</Paragraphs>
  <Slides>18</Slides>
  <Notes>18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Tao Dai</cp:lastModifiedBy>
  <cp:revision>22</cp:revision>
  <cp:lastPrinted>2026-02-04T22:55:32Z</cp:lastPrinted>
  <dcterms:created xsi:type="dcterms:W3CDTF">2026-01-21T04:30:15Z</dcterms:created>
  <dcterms:modified xsi:type="dcterms:W3CDTF">2026-02-04T22:58:13Z</dcterms:modified>
</cp:coreProperties>
</file>